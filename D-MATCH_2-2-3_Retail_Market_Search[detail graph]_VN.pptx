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19" r:id="rId1"/>
  </p:sldMasterIdLst>
  <p:notesMasterIdLst>
    <p:notesMasterId r:id="rId8"/>
  </p:notesMasterIdLst>
  <p:handoutMasterIdLst>
    <p:handoutMasterId r:id="rId9"/>
  </p:handoutMasterIdLst>
  <p:sldIdLst>
    <p:sldId id="256" r:id="rId2"/>
    <p:sldId id="323" r:id="rId3"/>
    <p:sldId id="329" r:id="rId4"/>
    <p:sldId id="330" r:id="rId5"/>
    <p:sldId id="331" r:id="rId6"/>
    <p:sldId id="324" r:id="rId7"/>
  </p:sldIdLst>
  <p:sldSz cx="9906000" cy="6858000" type="A4"/>
  <p:notesSz cx="6807200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30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D1D1"/>
    <a:srgbClr val="214369"/>
    <a:srgbClr val="9CBCDA"/>
    <a:srgbClr val="FFF7D5"/>
    <a:srgbClr val="CFDDE9"/>
    <a:srgbClr val="CCECFF"/>
    <a:srgbClr val="295483"/>
    <a:srgbClr val="FF6699"/>
    <a:srgbClr val="6D9DC9"/>
    <a:srgbClr val="1E95A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89813" autoAdjust="0"/>
  </p:normalViewPr>
  <p:slideViewPr>
    <p:cSldViewPr>
      <p:cViewPr>
        <p:scale>
          <a:sx n="150" d="100"/>
          <a:sy n="150" d="100"/>
        </p:scale>
        <p:origin x="-288" y="1584"/>
      </p:cViewPr>
      <p:guideLst>
        <p:guide orient="horz" pos="2160"/>
        <p:guide pos="3120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3450" y="-96"/>
      </p:cViewPr>
      <p:guideLst>
        <p:guide orient="horz" pos="3130"/>
        <p:guide pos="2143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350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52D31481-27B6-43B4-97D6-7F57AE923DFB}" type="datetimeFigureOut">
              <a:rPr lang="ja-JP" altLang="en-US"/>
              <a:pPr>
                <a:defRPr/>
              </a:pPr>
              <a:t>2016/5/25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350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1850E809-4CDE-4E04-82C0-F67474F4D84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471196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350" y="0"/>
            <a:ext cx="2950263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3B249168-D4B7-4149-ABE6-E394CB7D331B}" type="datetimeFigureOut">
              <a:rPr lang="ja-JP" altLang="en-US"/>
              <a:pPr>
                <a:defRPr/>
              </a:pPr>
              <a:t>2016/5/25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8003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1199" y="4721225"/>
            <a:ext cx="5444806" cy="4471988"/>
          </a:xfrm>
          <a:prstGeom prst="rect">
            <a:avLst/>
          </a:prstGeom>
        </p:spPr>
        <p:txBody>
          <a:bodyPr vert="horz" lIns="91431" tIns="45715" rIns="91431" bIns="45715" rtlCol="0">
            <a:normAutofit/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lang="ja-JP" altLang="en-US" noProof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1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350" y="9440864"/>
            <a:ext cx="2950263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>
                <a:ea typeface="ＭＳ Ｐゴシック" charset="-128"/>
              </a:defRPr>
            </a:lvl1pPr>
          </a:lstStyle>
          <a:p>
            <a:pPr>
              <a:defRPr/>
            </a:pPr>
            <a:fld id="{5745C9DD-FF9F-4F50-9653-2EF238E6CE6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7476503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688524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2895260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3653271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070474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4226770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45C9DD-FF9F-4F50-9653-2EF238E6CE69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xmlns="" val="191814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2492378"/>
            <a:ext cx="9906000" cy="72529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5000">
                <a:schemeClr val="accent6"/>
              </a:gs>
              <a:gs pos="85000">
                <a:schemeClr val="accent6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232921" y="6616011"/>
            <a:ext cx="1426738" cy="241991"/>
          </a:xfrm>
          <a:prstGeom prst="rect">
            <a:avLst/>
          </a:prstGeom>
          <a:noFill/>
          <a:ln>
            <a:noFill/>
          </a:ln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6946" y="1628778"/>
            <a:ext cx="9672108" cy="822325"/>
          </a:xfrm>
        </p:spPr>
        <p:txBody>
          <a:bodyPr anchor="b"/>
          <a:lstStyle>
            <a:lvl1pPr algn="ctr">
              <a:defRPr sz="3200"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2708920"/>
            <a:ext cx="6934200" cy="576262"/>
          </a:xfrm>
        </p:spPr>
        <p:txBody>
          <a:bodyPr/>
          <a:lstStyle>
            <a:lvl1pPr marL="0" indent="0" algn="ctr"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ja-JP" alt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267840" cy="4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  <a:endParaRPr lang="ja-JP" altLang="en-US" dirty="0" smtClean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8189650" y="6669360"/>
            <a:ext cx="1716352" cy="188640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800">
                <a:latin typeface="Century Gothic" pitchFamily="34" charset="0"/>
                <a:ea typeface="メイリオ" pitchFamily="50" charset="-128"/>
                <a:cs typeface="メイリオ" pitchFamily="50" charset="-128"/>
              </a:defRPr>
            </a:lvl1pPr>
          </a:lstStyle>
          <a:p>
            <a:pPr>
              <a:defRPr/>
            </a:pPr>
            <a:r>
              <a:rPr lang="en-US" altLang="ja-JP" dirty="0" smtClean="0"/>
              <a:t>Copyright (c) 2014 HOYU </a:t>
            </a:r>
            <a:r>
              <a:rPr lang="en-US" altLang="ja-JP" dirty="0" err="1" smtClean="0"/>
              <a:t>co.ltd</a:t>
            </a:r>
            <a:r>
              <a:rPr lang="en-US" altLang="ja-JP" dirty="0" smtClean="0"/>
              <a:t>. All Rights Reserved.</a:t>
            </a:r>
            <a:endParaRPr lang="en-US" altLang="ja-JP" dirty="0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" y="6669360"/>
            <a:ext cx="992319" cy="18864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800"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0" y="6638400"/>
            <a:ext cx="9906000" cy="1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rgbClr val="00B0F0"/>
              </a:gs>
              <a:gs pos="100000">
                <a:schemeClr val="bg2">
                  <a:lumMod val="9000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0" y="332656"/>
            <a:ext cx="9906000" cy="36000"/>
          </a:xfrm>
          <a:prstGeom prst="rect">
            <a:avLst/>
          </a:prstGeom>
          <a:gradFill flip="none" rotWithShape="1">
            <a:gsLst>
              <a:gs pos="0">
                <a:srgbClr val="00B0F0"/>
              </a:gs>
              <a:gs pos="100000">
                <a:srgbClr val="ABABAB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8746903" y="63798"/>
            <a:ext cx="1159097" cy="196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267840" cy="332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6464" y="476672"/>
            <a:ext cx="9673075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smtClean="0"/>
              <a:t>マスタ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6669191" y="6669360"/>
            <a:ext cx="3236810" cy="188640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600">
                <a:latin typeface="Century Gothic" pitchFamily="34" charset="0"/>
                <a:ea typeface="メイリオ" pitchFamily="50" charset="-128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ja-JP" dirty="0" smtClean="0"/>
              <a:t>Copyright (c) 2010 HOYU co.ltd. All Rights Reserved.</a:t>
            </a:r>
            <a:endParaRPr lang="en-US" altLang="ja-JP" dirty="0"/>
          </a:p>
        </p:txBody>
      </p:sp>
      <p:sp>
        <p:nvSpPr>
          <p:cNvPr id="8" name="日付プレースホルダ 3"/>
          <p:cNvSpPr txBox="1">
            <a:spLocks/>
          </p:cNvSpPr>
          <p:nvPr/>
        </p:nvSpPr>
        <p:spPr>
          <a:xfrm>
            <a:off x="4094825" y="6669360"/>
            <a:ext cx="1716352" cy="18864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000">
                <a:latin typeface="Century Gothic" pitchFamily="34" charset="0"/>
                <a:ea typeface="メイリオ" pitchFamily="50" charset="-128"/>
                <a:cs typeface="メイリオ" pitchFamily="50" charset="-128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itchFamily="34" charset="0"/>
                <a:ea typeface="メイリオ" pitchFamily="50" charset="-128"/>
                <a:cs typeface="メイリオ" pitchFamily="50" charset="-128"/>
              </a:rPr>
              <a:t>CONFIDENTIAL</a:t>
            </a:r>
            <a:endParaRPr kumimoji="1" lang="en-US" altLang="ja-JP" sz="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2" y="6669360"/>
            <a:ext cx="992319" cy="18864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800">
                <a:latin typeface="Century Gothic" pitchFamily="34" charset="0"/>
              </a:defRPr>
            </a:lvl1pPr>
          </a:lstStyle>
          <a:p>
            <a:pPr>
              <a:defRPr/>
            </a:pPr>
            <a:fld id="{7E26BBE9-1171-4755-8BA0-6A5F158C4BA5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0" r:id="rId1"/>
    <p:sldLayoutId id="2147484421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MS UI Gothic" pitchFamily="50" charset="-128"/>
          <a:ea typeface="MS UI Gothic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-OTF じゅん Pro 34" pitchFamily="34" charset="-128"/>
          <a:ea typeface="A-OTF じゅん Pro 34" pitchFamily="34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6946" y="1196753"/>
            <a:ext cx="9672108" cy="1295624"/>
          </a:xfrm>
        </p:spPr>
        <p:txBody>
          <a:bodyPr/>
          <a:lstStyle/>
          <a:p>
            <a:r>
              <a:rPr lang="en-US" altLang="ja-JP" b="1" dirty="0" smtClean="0">
                <a:latin typeface="Times New Roman" pitchFamily="18" charset="0"/>
                <a:cs typeface="Times New Roman" pitchFamily="18" charset="0"/>
              </a:rPr>
              <a:t>TÀI LIỆU ĐỊNH NGHĨA YÊU CẦU TÍNH NĂNG CỦA D-MATCH </a:t>
            </a:r>
            <a:r>
              <a:rPr lang="en-US" altLang="ja-JP" b="1" dirty="0" smtClean="0"/>
              <a:t/>
            </a:r>
            <a:br>
              <a:rPr lang="en-US" altLang="ja-JP" b="1" dirty="0" smtClean="0"/>
            </a:br>
            <a:r>
              <a:rPr lang="ja-JP" altLang="en-US" sz="1800" b="1" smtClean="0"/>
              <a:t>（</a:t>
            </a:r>
            <a:r>
              <a:rPr lang="en-US" altLang="ja-JP" sz="1800" b="1" dirty="0" smtClean="0"/>
              <a:t>2-2-3</a:t>
            </a:r>
            <a:r>
              <a:rPr lang="en-US" altLang="ja-JP" sz="1800" b="1" dirty="0" smtClean="0">
                <a:latin typeface="Times New Roman" pitchFamily="18" charset="0"/>
                <a:cs typeface="Times New Roman" pitchFamily="18" charset="0"/>
              </a:rPr>
              <a:t> : TÌM KIẾM GIÁ BÁN LẺ (DỮ LIỆU CHI TIẾT) </a:t>
            </a:r>
            <a:r>
              <a:rPr lang="en-US" altLang="ja-JP" sz="1800" b="1" dirty="0" smtClean="0">
                <a:latin typeface="Times New Roman" pitchFamily="18" charset="0"/>
                <a:cs typeface="Times New Roman" pitchFamily="18" charset="0"/>
              </a:rPr>
              <a:t>(GRAPH))</a:t>
            </a:r>
            <a:endParaRPr lang="ja-JP" altLang="ja-JP" sz="1800" b="1" dirty="0" smtClean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72480" y="116632"/>
            <a:ext cx="916805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A-OTF じゅん Pro 34" pitchFamily="34" charset="-128"/>
                <a:ea typeface="A-OTF じゅん Pro 34" pitchFamily="34" charset="-128"/>
              </a:defRPr>
            </a:lvl9pPr>
          </a:lstStyle>
          <a:p>
            <a:r>
              <a:rPr lang="en-US" altLang="ja-JP" kern="0" dirty="0" err="1" smtClean="0">
                <a:latin typeface="Times New Roman" pitchFamily="18" charset="0"/>
                <a:cs typeface="Times New Roman" pitchFamily="18" charset="0"/>
              </a:rPr>
              <a:t>Dành</a:t>
            </a:r>
            <a:r>
              <a:rPr lang="en-US" altLang="ja-JP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kern="0" dirty="0" err="1" smtClean="0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altLang="ja-JP" kern="0" dirty="0" smtClean="0">
                <a:latin typeface="Times New Roman" pitchFamily="18" charset="0"/>
                <a:cs typeface="Times New Roman" pitchFamily="18" charset="0"/>
              </a:rPr>
              <a:t> Recruit Marketing Partners</a:t>
            </a:r>
            <a:endParaRPr lang="ja-JP" altLang="ja-JP" kern="0" dirty="0" smtClean="0"/>
          </a:p>
        </p:txBody>
      </p:sp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 smtClean="0"/>
              <a:t>2016/5/13</a:t>
            </a:r>
          </a:p>
        </p:txBody>
      </p:sp>
      <p:sp>
        <p:nvSpPr>
          <p:cNvPr id="6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(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1/4)</a:t>
            </a:r>
            <a:r>
              <a:rPr lang="ja-JP" altLang="en-US" smtClean="0">
                <a:latin typeface="Times New Roman" pitchFamily="18" charset="0"/>
                <a:cs typeface="Times New Roman" pitchFamily="18" charset="0"/>
              </a:rPr>
              <a:t>　</a:t>
            </a:r>
            <a:endParaRPr kumimoji="1"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96769" y="497540"/>
            <a:ext cx="9649071" cy="579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DB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lịch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272480" y="1196752"/>
            <a:ext cx="9411303" cy="291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50877640"/>
              </p:ext>
            </p:extLst>
          </p:nvPr>
        </p:nvGraphicFramePr>
        <p:xfrm>
          <a:off x="272480" y="1546746"/>
          <a:ext cx="940141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39"/>
                <a:gridCol w="792523"/>
                <a:gridCol w="2789519"/>
                <a:gridCol w="3401325"/>
                <a:gridCol w="1867105"/>
              </a:tblGrid>
              <a:tr h="13272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Screen ID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Màn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nguồn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tìm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kiếm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Mục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danh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sách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hiển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thị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１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2-2-1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Màn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tìm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kiếm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giá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bán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lẻ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chỉ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định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1" lang="en-US" altLang="ja-JP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Tất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cả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tìm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kiếm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đã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thiết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lập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trên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màn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bao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gồm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chi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tiết</a:t>
                      </a:r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1" lang="en-US" altLang="ja-JP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Mục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đã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chỉ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định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trong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tìm</a:t>
                      </a:r>
                      <a:r>
                        <a:rPr kumimoji="1" lang="en-US" altLang="ja-JP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ja-JP" sz="120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kiếm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1" lang="ja-JP" altLang="en-US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Echo screen</a:t>
                      </a:r>
                      <a:endParaRPr kumimoji="1" lang="en-US" altLang="ja-JP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Maker,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Car model, Model code, Grade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ja-JP" altLang="en-US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Năm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Repair history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ja-JP" altLang="en-US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Body color,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Mileage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Phần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（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※</a:t>
                      </a:r>
                      <a:r>
                        <a:rPr lang="ja-JP" altLang="en-US" sz="1200" kern="0" smtClean="0">
                          <a:latin typeface="Times New Roman" pitchFamily="18" charset="0"/>
                          <a:cs typeface="Times New Roman" pitchFamily="18" charset="0"/>
                        </a:rPr>
                        <a:t>）</a:t>
                      </a:r>
                      <a:r>
                        <a:rPr lang="en-US" altLang="ja-JP" sz="1200" kern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tiếp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tục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kiện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chỉ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khi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đã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thiết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lập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trong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màn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thiết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lập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(Screen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ID: </a:t>
                      </a: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2-6)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kern="0" dirty="0" smtClean="0">
                          <a:latin typeface="Times New Roman" pitchFamily="18" charset="0"/>
                          <a:cs typeface="Times New Roman" pitchFamily="18" charset="0"/>
                        </a:rPr>
                        <a:t>Maker,</a:t>
                      </a:r>
                      <a:r>
                        <a:rPr lang="en-US" altLang="ja-JP" sz="1200" kern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Car model, Model code, Grade</a:t>
                      </a:r>
                      <a:endParaRPr lang="en-US" altLang="ja-JP" sz="1200" kern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ectangle 9"/>
          <p:cNvSpPr txBox="1">
            <a:spLocks noChangeArrowheads="1"/>
          </p:cNvSpPr>
          <p:nvPr/>
        </p:nvSpPr>
        <p:spPr bwMode="auto">
          <a:xfrm>
            <a:off x="253754" y="3573016"/>
            <a:ext cx="9379766" cy="2901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○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/ Link</a:t>
            </a:r>
            <a:endParaRPr lang="en-US" altLang="ja-JP" sz="1200" b="1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b="1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「詳細」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b="1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b="1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Area)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sang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(Screen ID: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2-3-2)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(Window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２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．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「お気に入り」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(My favorites)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DB (My favorites)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３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「ソート」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(Sort)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loại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key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４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「カメラ」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(camera)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gallery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Gallery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yêu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”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68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(2/4)</a:t>
            </a:r>
            <a:r>
              <a:rPr lang="ja-JP" altLang="en-US" smtClean="0">
                <a:latin typeface="Times New Roman" pitchFamily="18" charset="0"/>
                <a:cs typeface="Times New Roman" pitchFamily="18" charset="0"/>
              </a:rPr>
              <a:t>　</a:t>
            </a:r>
            <a:endParaRPr kumimoji="1" lang="ja-JP" altLang="en-US" dirty="0"/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255632" y="548680"/>
            <a:ext cx="9274184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/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５．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×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」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tắt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６．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「次へ」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(Next)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(50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2,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3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101~150)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0)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「次へ」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(Next)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７．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「前へ」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(Back)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(50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3,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2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51~100)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「前へ」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(Back)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８．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「最初」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「最初」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９．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「最後」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0)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「最後」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cuối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１０．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「ページ番号」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click.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201~250)</a:t>
            </a:r>
          </a:p>
          <a:p>
            <a:endParaRPr lang="en-US" altLang="ja-JP" sz="1200" kern="0" dirty="0" smtClean="0"/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12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(3/4)</a:t>
            </a:r>
            <a:r>
              <a:rPr lang="ja-JP" altLang="en-US" smtClean="0">
                <a:latin typeface="Times New Roman" pitchFamily="18" charset="0"/>
                <a:cs typeface="Times New Roman" pitchFamily="18" charset="0"/>
              </a:rPr>
              <a:t>　</a:t>
            </a:r>
            <a:endParaRPr kumimoji="1" lang="ja-JP" altLang="en-US" dirty="0"/>
          </a:p>
        </p:txBody>
      </p:sp>
      <p:sp>
        <p:nvSpPr>
          <p:cNvPr id="5" name="Rectangle 9"/>
          <p:cNvSpPr txBox="1">
            <a:spLocks noChangeArrowheads="1"/>
          </p:cNvSpPr>
          <p:nvPr/>
        </p:nvSpPr>
        <p:spPr bwMode="auto">
          <a:xfrm>
            <a:off x="255632" y="476672"/>
            <a:ext cx="9274184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/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１１．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Tab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「年式／走行距離」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(Model year/ Mileage)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「○マトリックス」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１２．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Nút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「選択範囲を反映」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ánh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chưa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「○マトリックス」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１３．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Tab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「検索結果一覧」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click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※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「○一覧」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１４．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Link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「再検索」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)( Screen ID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2-3-1)</a:t>
            </a:r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344488" y="4797152"/>
            <a:ext cx="9401352" cy="1337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b="1" kern="0" smtClean="0"/>
              <a:t>○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endParaRPr lang="en-US" altLang="ja-JP" sz="1200" b="1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AA, gross profit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１．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(average unit price )(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yên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phù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２．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yên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phù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Area)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３．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gross profit: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gross profit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AA.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16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GIỚI THIỆU TỔNG QUÁT 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(4/4)</a:t>
            </a:r>
            <a:r>
              <a:rPr lang="ja-JP" altLang="en-US" smtClean="0">
                <a:latin typeface="Times New Roman" pitchFamily="18" charset="0"/>
                <a:cs typeface="Times New Roman" pitchFamily="18" charset="0"/>
              </a:rPr>
              <a:t>　</a:t>
            </a:r>
            <a:endParaRPr kumimoji="1" lang="ja-JP" altLang="en-US" dirty="0"/>
          </a:p>
        </p:txBody>
      </p:sp>
      <p:sp>
        <p:nvSpPr>
          <p:cNvPr id="7" name="Rectangle 9"/>
          <p:cNvSpPr txBox="1">
            <a:spLocks noChangeArrowheads="1"/>
          </p:cNvSpPr>
          <p:nvPr/>
        </p:nvSpPr>
        <p:spPr bwMode="auto">
          <a:xfrm>
            <a:off x="344488" y="548680"/>
            <a:ext cx="940518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b="1" kern="0" smtClean="0"/>
              <a:t>○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b="1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Tùy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→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chiếu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「○遷移元の画面と検索条件」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Sắp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xếp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thứ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dần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(Screen ID:1-2)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user log in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nền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kiếm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50.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50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trang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(paging).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nằm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server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phía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C-MATCH,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camera icon.</a:t>
            </a:r>
            <a:endParaRPr lang="en-US" altLang="ja-JP" sz="1200" kern="0" dirty="0"/>
          </a:p>
        </p:txBody>
      </p:sp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272480" y="2708920"/>
            <a:ext cx="9401352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kern="0" smtClean="0"/>
              <a:t>○ </a:t>
            </a:r>
            <a:r>
              <a:rPr lang="en-US" altLang="ja-JP" sz="1200" b="1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 Matrix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X: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Y: Mileage,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cột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matrix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tính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Memory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X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trước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1989, 1990……..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nay (2016)</a:t>
            </a: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　　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Y (Mileage): 0 ~ 100000 kilometer 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200" kern="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10000 kilometer)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cái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khác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balloon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/>
          </a:p>
        </p:txBody>
      </p:sp>
      <p:sp>
        <p:nvSpPr>
          <p:cNvPr id="8" name="Rectangle 9"/>
          <p:cNvSpPr txBox="1">
            <a:spLocks noChangeArrowheads="1"/>
          </p:cNvSpPr>
          <p:nvPr/>
        </p:nvSpPr>
        <p:spPr bwMode="auto">
          <a:xfrm>
            <a:off x="220628" y="4437112"/>
            <a:ext cx="9401352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200" b="1" kern="0" smtClean="0">
                <a:latin typeface="Times New Roman" pitchFamily="18" charset="0"/>
                <a:cs typeface="Times New Roman" pitchFamily="18" charset="0"/>
              </a:rPr>
              <a:t>○ </a:t>
            </a:r>
            <a:r>
              <a:rPr lang="en-US" altLang="ja-JP" sz="1200" b="1" kern="0" dirty="0" smtClean="0">
                <a:latin typeface="Times New Roman" pitchFamily="18" charset="0"/>
                <a:cs typeface="Times New Roman" pitchFamily="18" charset="0"/>
              </a:rPr>
              <a:t>Graph</a:t>
            </a:r>
            <a:endParaRPr lang="en-US" altLang="ja-JP" sz="1200" b="1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graph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Echo (Screen ID: 1-3)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Chi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graph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6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tháng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tuần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Trục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Y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lập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lớn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+ 1,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-1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xanh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ja-JP" sz="1200" kern="0" dirty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đỏ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(graph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nét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đứt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Echo (Screen ID: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1-3).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ja-JP" altLang="en-US" sz="1200" kern="0" dirty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ja-JP" altLang="en-US" sz="1200" kern="0" smtClean="0">
                <a:latin typeface="Times New Roman" pitchFamily="18" charset="0"/>
                <a:cs typeface="Times New Roman" pitchFamily="18" charset="0"/>
              </a:rPr>
              <a:t>・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màu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xanh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(graph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nét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đứt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ô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tô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quân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hiển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thị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danh</a:t>
            </a:r>
            <a:r>
              <a:rPr lang="en-US" altLang="ja-JP" sz="1200" kern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200" kern="0" dirty="0" err="1" smtClean="0">
                <a:latin typeface="Times New Roman" pitchFamily="18" charset="0"/>
                <a:cs typeface="Times New Roman" pitchFamily="18" charset="0"/>
              </a:rPr>
              <a:t>sách</a:t>
            </a:r>
            <a:endParaRPr lang="en-US" altLang="ja-JP" sz="1200" kern="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573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Transition diagram (</a:t>
            </a:r>
            <a:r>
              <a:rPr lang="en-US" altLang="ja-JP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Times New Roman" pitchFamily="18" charset="0"/>
                <a:cs typeface="Times New Roman" pitchFamily="18" charset="0"/>
              </a:rPr>
              <a:t>màn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kumimoji="1" lang="ja-JP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8" name="テキスト ボックス 33"/>
          <p:cNvSpPr txBox="1"/>
          <p:nvPr/>
        </p:nvSpPr>
        <p:spPr>
          <a:xfrm>
            <a:off x="6898718" y="5051391"/>
            <a:ext cx="1654682" cy="33093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My favorites</a:t>
            </a:r>
            <a:endParaRPr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219" name="フローチャート: 磁気ディスク 218"/>
          <p:cNvSpPr/>
          <p:nvPr/>
        </p:nvSpPr>
        <p:spPr>
          <a:xfrm>
            <a:off x="8150586" y="5097793"/>
            <a:ext cx="250732" cy="23812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テキスト ボックス 1"/>
          <p:cNvSpPr txBox="1"/>
          <p:nvPr/>
        </p:nvSpPr>
        <p:spPr>
          <a:xfrm>
            <a:off x="3520812" y="3636645"/>
            <a:ext cx="3016364" cy="15248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2-2-3: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chi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 (Graph)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marL="0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※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Trường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hợp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chuyển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từ</a:t>
            </a:r>
            <a:r>
              <a:rPr kumimoji="1" lang="en-US" altLang="ja-JP" sz="900" dirty="0" smtClean="0">
                <a:solidFill>
                  <a:schemeClr val="dk1"/>
                </a:solidFill>
                <a:effectLst/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Echo screen</a:t>
            </a:r>
            <a:endParaRPr lang="ja-JP" altLang="ja-JP" sz="900" dirty="0">
              <a:effectLst/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59" name="直線矢印コネクタ 58"/>
          <p:cNvCxnSpPr>
            <a:stCxn id="58" idx="2"/>
            <a:endCxn id="66" idx="0"/>
          </p:cNvCxnSpPr>
          <p:nvPr/>
        </p:nvCxnSpPr>
        <p:spPr>
          <a:xfrm flipH="1">
            <a:off x="5024511" y="5161498"/>
            <a:ext cx="4483" cy="510167"/>
          </a:xfrm>
          <a:prstGeom prst="straightConnector1">
            <a:avLst/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>
            <a:stCxn id="63" idx="2"/>
            <a:endCxn id="64" idx="0"/>
          </p:cNvCxnSpPr>
          <p:nvPr/>
        </p:nvCxnSpPr>
        <p:spPr>
          <a:xfrm>
            <a:off x="4745784" y="1402530"/>
            <a:ext cx="0" cy="22341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4"/>
          <p:cNvSpPr txBox="1"/>
          <p:nvPr/>
        </p:nvSpPr>
        <p:spPr>
          <a:xfrm>
            <a:off x="4910031" y="1604236"/>
            <a:ext cx="1839886" cy="47624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tab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条件指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定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Chỉ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định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điều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kiện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62" name="テキスト ボックス 5"/>
          <p:cNvSpPr txBox="1"/>
          <p:nvPr/>
        </p:nvSpPr>
        <p:spPr>
          <a:xfrm>
            <a:off x="3872880" y="764704"/>
            <a:ext cx="2249691" cy="6350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2-2-1: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bán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lẻ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chỉ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định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điều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kiện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63" name="正方形/長方形 62"/>
          <p:cNvSpPr/>
          <p:nvPr/>
        </p:nvSpPr>
        <p:spPr>
          <a:xfrm>
            <a:off x="4614475" y="1164405"/>
            <a:ext cx="262617" cy="238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正方形/長方形 63"/>
          <p:cNvSpPr/>
          <p:nvPr/>
        </p:nvSpPr>
        <p:spPr>
          <a:xfrm>
            <a:off x="4614475" y="3636646"/>
            <a:ext cx="262617" cy="238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5" name="直線矢印コネクタ 64"/>
          <p:cNvCxnSpPr>
            <a:stCxn id="58" idx="0"/>
            <a:endCxn id="62" idx="2"/>
          </p:cNvCxnSpPr>
          <p:nvPr/>
        </p:nvCxnSpPr>
        <p:spPr>
          <a:xfrm flipH="1" flipV="1">
            <a:off x="4997726" y="1399727"/>
            <a:ext cx="31268" cy="2236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9"/>
          <p:cNvSpPr txBox="1"/>
          <p:nvPr/>
        </p:nvSpPr>
        <p:spPr>
          <a:xfrm>
            <a:off x="3583853" y="5671665"/>
            <a:ext cx="2881315" cy="7816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【D-MATCH】</a:t>
            </a:r>
          </a:p>
          <a:p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2-3-2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: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giá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AA (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chi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lang="en-US" altLang="ja-JP" sz="900" dirty="0" smtClean="0">
              <a:solidFill>
                <a:sysClr val="windowText" lastClr="000000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※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Tình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trạng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đã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hiển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thị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sau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khi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endParaRPr lang="en-US" altLang="ja-JP" sz="900" dirty="0" smtClean="0">
              <a:solidFill>
                <a:sysClr val="windowText" lastClr="000000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※</a:t>
            </a:r>
            <a:r>
              <a:rPr lang="en-US" altLang="ja-JP" sz="900" dirty="0" err="1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Có</a:t>
            </a:r>
            <a:r>
              <a:rPr lang="en-US" altLang="ja-JP" sz="900" dirty="0" smtClean="0">
                <a:solidFill>
                  <a:sysClr val="windowText" lastClr="000000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navigation tab</a:t>
            </a:r>
            <a:endParaRPr lang="en-US" altLang="ja-JP" sz="900" dirty="0">
              <a:solidFill>
                <a:sysClr val="windowText" lastClr="000000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67" name="テキスト ボックス 10"/>
          <p:cNvSpPr txBox="1"/>
          <p:nvPr/>
        </p:nvSpPr>
        <p:spPr>
          <a:xfrm>
            <a:off x="2856516" y="5211324"/>
            <a:ext cx="2357439" cy="35418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「詳細」 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(chi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tiết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của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mục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AA</a:t>
            </a:r>
            <a:endParaRPr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grpSp>
        <p:nvGrpSpPr>
          <p:cNvPr id="69" name="グループ化 68"/>
          <p:cNvGrpSpPr/>
          <p:nvPr/>
        </p:nvGrpSpPr>
        <p:grpSpPr>
          <a:xfrm>
            <a:off x="200472" y="5461377"/>
            <a:ext cx="1849798" cy="985114"/>
            <a:chOff x="10260386" y="5729836"/>
            <a:chExt cx="2151533" cy="1647267"/>
          </a:xfrm>
        </p:grpSpPr>
        <p:sp>
          <p:nvSpPr>
            <p:cNvPr id="92" name="テキスト ボックス 13"/>
            <p:cNvSpPr txBox="1"/>
            <p:nvPr/>
          </p:nvSpPr>
          <p:spPr>
            <a:xfrm>
              <a:off x="10260386" y="5729836"/>
              <a:ext cx="2151531" cy="1647265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kumimoji="1" lang="en-US" altLang="ja-JP" sz="90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【</a:t>
              </a:r>
              <a:r>
                <a:rPr kumimoji="1" lang="ja-JP" altLang="en-US" sz="90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判例</a:t>
              </a:r>
              <a:r>
                <a:rPr kumimoji="1" lang="en-US" altLang="ja-JP" sz="90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】</a:t>
              </a:r>
            </a:p>
            <a:p>
              <a:pPr algn="l"/>
              <a:endParaRPr kumimoji="1" lang="en-US" altLang="ja-JP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cxnSp>
          <p:nvCxnSpPr>
            <p:cNvPr id="93" name="直線矢印コネクタ 92"/>
            <p:cNvCxnSpPr/>
            <p:nvPr/>
          </p:nvCxnSpPr>
          <p:spPr>
            <a:xfrm>
              <a:off x="10529328" y="6200486"/>
              <a:ext cx="268942" cy="0"/>
            </a:xfrm>
            <a:prstGeom prst="straightConnector1">
              <a:avLst/>
            </a:prstGeom>
            <a:ln w="19050">
              <a:solidFill>
                <a:sysClr val="windowText" lastClr="0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テキスト ボックス 15"/>
            <p:cNvSpPr txBox="1"/>
            <p:nvPr/>
          </p:nvSpPr>
          <p:spPr>
            <a:xfrm>
              <a:off x="11067212" y="5965162"/>
              <a:ext cx="1344707" cy="47064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Window </a:t>
              </a:r>
              <a:r>
                <a:rPr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khác</a:t>
              </a:r>
              <a:endParaRPr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cxnSp>
          <p:nvCxnSpPr>
            <p:cNvPr id="95" name="直線矢印コネクタ 94"/>
            <p:cNvCxnSpPr/>
            <p:nvPr/>
          </p:nvCxnSpPr>
          <p:spPr>
            <a:xfrm>
              <a:off x="10529327" y="6671135"/>
              <a:ext cx="2689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テキスト ボックス 17"/>
            <p:cNvSpPr txBox="1"/>
            <p:nvPr/>
          </p:nvSpPr>
          <p:spPr>
            <a:xfrm>
              <a:off x="11067211" y="6435810"/>
              <a:ext cx="1344707" cy="47064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Cùng</a:t>
              </a:r>
              <a:r>
                <a:rPr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 window</a:t>
              </a:r>
              <a:endParaRPr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sp>
          <p:nvSpPr>
            <p:cNvPr id="97" name="テキスト ボックス 18"/>
            <p:cNvSpPr txBox="1"/>
            <p:nvPr/>
          </p:nvSpPr>
          <p:spPr>
            <a:xfrm>
              <a:off x="11067210" y="6906455"/>
              <a:ext cx="1344707" cy="470648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Bảo</a:t>
              </a:r>
              <a:r>
                <a:rPr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 </a:t>
              </a:r>
              <a:r>
                <a:rPr lang="en-US" altLang="ja-JP" sz="900" dirty="0" err="1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lưu</a:t>
              </a:r>
              <a:r>
                <a:rPr lang="en-US" altLang="ja-JP" sz="900" dirty="0" smtClean="0">
                  <a:latin typeface="Times New Roman" pitchFamily="18" charset="0"/>
                  <a:ea typeface="メイリオ" panose="020B0604030504040204" pitchFamily="50" charset="-128"/>
                  <a:cs typeface="Times New Roman" pitchFamily="18" charset="0"/>
                </a:rPr>
                <a:t> DB</a:t>
              </a:r>
              <a:endParaRPr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endParaRPr>
            </a:p>
          </p:txBody>
        </p:sp>
        <p:sp>
          <p:nvSpPr>
            <p:cNvPr id="98" name="フローチャート: 磁気ディスク 97"/>
            <p:cNvSpPr/>
            <p:nvPr/>
          </p:nvSpPr>
          <p:spPr>
            <a:xfrm>
              <a:off x="10529327" y="7007306"/>
              <a:ext cx="257735" cy="235324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9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0" name="正方形/長方形 69"/>
          <p:cNvSpPr/>
          <p:nvPr/>
        </p:nvSpPr>
        <p:spPr>
          <a:xfrm>
            <a:off x="5138350" y="3636646"/>
            <a:ext cx="268940" cy="238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テキスト ボックス 21"/>
          <p:cNvSpPr txBox="1"/>
          <p:nvPr/>
        </p:nvSpPr>
        <p:spPr>
          <a:xfrm>
            <a:off x="244822" y="3578438"/>
            <a:ext cx="1869784" cy="142594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D-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MATCH】Moda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72" name="テキスト ボックス 22"/>
          <p:cNvSpPr txBox="1"/>
          <p:nvPr/>
        </p:nvSpPr>
        <p:spPr>
          <a:xfrm>
            <a:off x="390400" y="4054689"/>
            <a:ext cx="1578628" cy="714374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Gallery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ảnh</a:t>
            </a:r>
            <a:endParaRPr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73" name="テキスト ボックス 23"/>
          <p:cNvSpPr txBox="1"/>
          <p:nvPr/>
        </p:nvSpPr>
        <p:spPr>
          <a:xfrm>
            <a:off x="2070704" y="4517628"/>
            <a:ext cx="1571625" cy="71157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icon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「カメラ」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(Camera)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74" name="直線矢印コネクタ 73"/>
          <p:cNvCxnSpPr>
            <a:stCxn id="58" idx="1"/>
            <a:endCxn id="72" idx="3"/>
          </p:cNvCxnSpPr>
          <p:nvPr/>
        </p:nvCxnSpPr>
        <p:spPr>
          <a:xfrm flipH="1">
            <a:off x="1969028" y="4399072"/>
            <a:ext cx="1551784" cy="12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正方形/長方形 74"/>
          <p:cNvSpPr/>
          <p:nvPr/>
        </p:nvSpPr>
        <p:spPr>
          <a:xfrm>
            <a:off x="6275240" y="4905520"/>
            <a:ext cx="280762" cy="260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8" name="直線矢印コネクタ 12"/>
          <p:cNvCxnSpPr>
            <a:stCxn id="75" idx="2"/>
            <a:endCxn id="75" idx="3"/>
          </p:cNvCxnSpPr>
          <p:nvPr/>
        </p:nvCxnSpPr>
        <p:spPr>
          <a:xfrm rot="5400000" flipH="1" flipV="1">
            <a:off x="6420616" y="5030913"/>
            <a:ext cx="130389" cy="140381"/>
          </a:xfrm>
          <a:prstGeom prst="bentConnector4">
            <a:avLst>
              <a:gd name="adj1" fmla="val -175322"/>
              <a:gd name="adj2" fmla="val 262843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29"/>
          <p:cNvSpPr txBox="1"/>
          <p:nvPr/>
        </p:nvSpPr>
        <p:spPr>
          <a:xfrm>
            <a:off x="6753200" y="4797152"/>
            <a:ext cx="2350435" cy="28468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「お気に入り」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(My favorites)</a:t>
            </a:r>
            <a:endParaRPr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80" name="正方形/長方形 79"/>
          <p:cNvSpPr/>
          <p:nvPr/>
        </p:nvSpPr>
        <p:spPr>
          <a:xfrm>
            <a:off x="6275240" y="3620121"/>
            <a:ext cx="261936" cy="2409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1" name="直線矢印コネクタ 12"/>
          <p:cNvCxnSpPr>
            <a:stCxn id="80" idx="3"/>
            <a:endCxn id="80" idx="0"/>
          </p:cNvCxnSpPr>
          <p:nvPr/>
        </p:nvCxnSpPr>
        <p:spPr>
          <a:xfrm flipH="1" flipV="1">
            <a:off x="6406208" y="3620121"/>
            <a:ext cx="130968" cy="120464"/>
          </a:xfrm>
          <a:prstGeom prst="bentConnector4">
            <a:avLst>
              <a:gd name="adj1" fmla="val -174546"/>
              <a:gd name="adj2" fmla="val 289766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32"/>
          <p:cNvSpPr txBox="1"/>
          <p:nvPr/>
        </p:nvSpPr>
        <p:spPr>
          <a:xfrm>
            <a:off x="6753201" y="3354120"/>
            <a:ext cx="3044892" cy="68790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vào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icon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×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trong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endParaRPr lang="en-US" altLang="ja-JP" sz="900" dirty="0" smtClean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quan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hệ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với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paging</a:t>
            </a:r>
            <a:endParaRPr lang="ja-JP" altLang="ja-JP" sz="900" smtClean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・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 </a:t>
            </a:r>
            <a:r>
              <a:rPr lang="ja-JP" altLang="ja-JP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「ソート」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(Sort)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trong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các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mục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của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endParaRPr lang="ja-JP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83" name="テキスト ボックス 33"/>
          <p:cNvSpPr txBox="1"/>
          <p:nvPr/>
        </p:nvSpPr>
        <p:spPr>
          <a:xfrm>
            <a:off x="6971913" y="696559"/>
            <a:ext cx="1581487" cy="46504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【C-MATCH】</a:t>
            </a:r>
          </a:p>
          <a:p>
            <a:pPr algn="l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1-3: Echo 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từng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sản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phẩm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84" name="テキスト ボックス 34"/>
          <p:cNvSpPr txBox="1"/>
          <p:nvPr/>
        </p:nvSpPr>
        <p:spPr>
          <a:xfrm>
            <a:off x="7897128" y="1280664"/>
            <a:ext cx="2008872" cy="49215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link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平均</a:t>
            </a:r>
            <a:r>
              <a:rPr kumimoji="1" lang="en-US" altLang="ja-JP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±</a:t>
            </a:r>
            <a:r>
              <a:rPr kumimoji="1" lang="ja-JP" altLang="en-US" sz="900" dirty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○</a:t>
            </a:r>
            <a:r>
              <a:rPr kumimoji="1" lang="ja-JP" altLang="en-US" sz="90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万</a:t>
            </a:r>
            <a:r>
              <a:rPr kumimoji="1"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bình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quân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±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ja-JP" altLang="en-US" sz="90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○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vạn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ja-JP" altLang="en-US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85" name="直線矢印コネクタ 12"/>
          <p:cNvCxnSpPr>
            <a:stCxn id="83" idx="2"/>
            <a:endCxn id="70" idx="0"/>
          </p:cNvCxnSpPr>
          <p:nvPr/>
        </p:nvCxnSpPr>
        <p:spPr>
          <a:xfrm rot="5400000">
            <a:off x="5280217" y="1154205"/>
            <a:ext cx="2475045" cy="2489837"/>
          </a:xfrm>
          <a:prstGeom prst="bentConnector3">
            <a:avLst>
              <a:gd name="adj1" fmla="val 50000"/>
            </a:avLst>
          </a:prstGeom>
          <a:ln w="19050">
            <a:solidFill>
              <a:sysClr val="windowText" lastClr="0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33"/>
          <p:cNvSpPr txBox="1"/>
          <p:nvPr/>
        </p:nvSpPr>
        <p:spPr>
          <a:xfrm>
            <a:off x="3401013" y="2856358"/>
            <a:ext cx="1417461" cy="33093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LS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endParaRPr lang="ja-JP" altLang="en-US" sz="900" smtClean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110" name="フローチャート: 磁気ディスク 109"/>
          <p:cNvSpPr/>
          <p:nvPr/>
        </p:nvSpPr>
        <p:spPr>
          <a:xfrm>
            <a:off x="4388490" y="2902760"/>
            <a:ext cx="250732" cy="23812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6" name="テキスト ボックス 33"/>
          <p:cNvSpPr txBox="1"/>
          <p:nvPr/>
        </p:nvSpPr>
        <p:spPr>
          <a:xfrm>
            <a:off x="5118799" y="2852936"/>
            <a:ext cx="1417461" cy="330931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Dữ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liệu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LS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endParaRPr lang="ja-JP" altLang="en-US" sz="900" smtClean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217" name="フローチャート: 磁気ディスク 216"/>
          <p:cNvSpPr/>
          <p:nvPr/>
        </p:nvSpPr>
        <p:spPr>
          <a:xfrm>
            <a:off x="6106276" y="2899338"/>
            <a:ext cx="250732" cy="23812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テキスト ボックス 24"/>
          <p:cNvSpPr txBox="1"/>
          <p:nvPr/>
        </p:nvSpPr>
        <p:spPr>
          <a:xfrm>
            <a:off x="3709088" y="4233612"/>
            <a:ext cx="1142173" cy="348383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Danh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sách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54" name="テキスト ボックス 24"/>
          <p:cNvSpPr txBox="1"/>
          <p:nvPr/>
        </p:nvSpPr>
        <p:spPr>
          <a:xfrm>
            <a:off x="5178979" y="4221088"/>
            <a:ext cx="1142173" cy="348383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dirty="0" err="1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Bảng</a:t>
            </a:r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matrix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55" name="直線矢印コネクタ 54"/>
          <p:cNvCxnSpPr>
            <a:stCxn id="54" idx="1"/>
            <a:endCxn id="53" idx="3"/>
          </p:cNvCxnSpPr>
          <p:nvPr/>
        </p:nvCxnSpPr>
        <p:spPr>
          <a:xfrm flipH="1">
            <a:off x="4851261" y="4395280"/>
            <a:ext cx="327718" cy="1252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24"/>
          <p:cNvSpPr txBox="1"/>
          <p:nvPr/>
        </p:nvSpPr>
        <p:spPr>
          <a:xfrm>
            <a:off x="4442273" y="4688147"/>
            <a:ext cx="1142173" cy="348383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900" dirty="0" smtClean="0"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Graph</a:t>
            </a:r>
            <a:endParaRPr kumimoji="1" lang="en-US" altLang="ja-JP" sz="900" dirty="0"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cxnSp>
        <p:nvCxnSpPr>
          <p:cNvPr id="77" name="直線矢印コネクタ 76"/>
          <p:cNvCxnSpPr>
            <a:stCxn id="76" idx="1"/>
            <a:endCxn id="53" idx="2"/>
          </p:cNvCxnSpPr>
          <p:nvPr/>
        </p:nvCxnSpPr>
        <p:spPr>
          <a:xfrm rot="10800000">
            <a:off x="4280175" y="4581995"/>
            <a:ext cx="162098" cy="280344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76"/>
          <p:cNvCxnSpPr>
            <a:stCxn id="76" idx="3"/>
            <a:endCxn id="54" idx="2"/>
          </p:cNvCxnSpPr>
          <p:nvPr/>
        </p:nvCxnSpPr>
        <p:spPr>
          <a:xfrm flipV="1">
            <a:off x="5584446" y="4569471"/>
            <a:ext cx="165620" cy="292868"/>
          </a:xfrm>
          <a:prstGeom prst="bentConnector2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11"/>
          <p:cNvSpPr txBox="1"/>
          <p:nvPr/>
        </p:nvSpPr>
        <p:spPr>
          <a:xfrm>
            <a:off x="2910189" y="1542889"/>
            <a:ext cx="1754779" cy="51795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Click </a:t>
            </a:r>
            <a:r>
              <a:rPr kumimoji="1" lang="en-US" altLang="ja-JP" sz="900" dirty="0" err="1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nút</a:t>
            </a:r>
            <a:r>
              <a:rPr kumimoji="1" lang="ja-JP" altLang="en-US" sz="90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「</a:t>
            </a:r>
            <a:r>
              <a:rPr kumimoji="1" lang="ja-JP" altLang="en-US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検</a:t>
            </a:r>
            <a:r>
              <a:rPr kumimoji="1" lang="ja-JP" altLang="en-US" sz="90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索</a:t>
            </a:r>
            <a:r>
              <a:rPr kumimoji="1" lang="ja-JP" altLang="en-US" sz="90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」</a:t>
            </a:r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(</a:t>
            </a:r>
            <a:r>
              <a:rPr kumimoji="1" lang="en-US" altLang="ja-JP" sz="900" dirty="0" err="1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Tìm</a:t>
            </a:r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 </a:t>
            </a:r>
            <a:r>
              <a:rPr kumimoji="1" lang="en-US" altLang="ja-JP" sz="900" dirty="0" err="1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kiếm</a:t>
            </a:r>
            <a:r>
              <a:rPr kumimoji="1" lang="en-US" altLang="ja-JP" sz="900" dirty="0" smtClean="0">
                <a:solidFill>
                  <a:schemeClr val="tx1"/>
                </a:solidFill>
                <a:latin typeface="Times New Roman" pitchFamily="18" charset="0"/>
                <a:ea typeface="メイリオ" panose="020B0604030504040204" pitchFamily="50" charset="-128"/>
                <a:cs typeface="Times New Roman" pitchFamily="18" charset="0"/>
              </a:rPr>
              <a:t>)</a:t>
            </a:r>
            <a:endParaRPr kumimoji="1" lang="en-US" altLang="ja-JP" sz="900" dirty="0">
              <a:solidFill>
                <a:schemeClr val="tx1"/>
              </a:solidFill>
              <a:latin typeface="Times New Roman" pitchFamily="18" charset="0"/>
              <a:ea typeface="メイリオ" panose="020B0604030504040204" pitchFamily="50" charset="-128"/>
              <a:cs typeface="Times New Roman" pitchFamily="18" charset="0"/>
            </a:endParaRPr>
          </a:p>
        </p:txBody>
      </p:sp>
      <p:sp>
        <p:nvSpPr>
          <p:cNvPr id="49" name="Rectangle 9"/>
          <p:cNvSpPr txBox="1">
            <a:spLocks noChangeArrowheads="1"/>
          </p:cNvSpPr>
          <p:nvPr/>
        </p:nvSpPr>
        <p:spPr bwMode="auto">
          <a:xfrm>
            <a:off x="7113240" y="6669360"/>
            <a:ext cx="2684852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※WF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ja-JP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2016/05/13</a:t>
            </a:r>
            <a:r>
              <a:rPr lang="ja-JP" altLang="en-US" sz="1200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版</a:t>
            </a:r>
            <a:r>
              <a:rPr lang="ja-JP" altLang="en-US" sz="1200" kern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）で作成。</a:t>
            </a:r>
            <a:endParaRPr lang="en-US" altLang="ja-JP" sz="1200" kern="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736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☣NEW HOYU theme">
  <a:themeElements>
    <a:clrScheme name="NEW HOYU">
      <a:dk1>
        <a:srgbClr val="000000"/>
      </a:dk1>
      <a:lt1>
        <a:srgbClr val="FFFFFF"/>
      </a:lt1>
      <a:dk2>
        <a:srgbClr val="3F3F3F"/>
      </a:dk2>
      <a:lt2>
        <a:srgbClr val="D8D8D8"/>
      </a:lt2>
      <a:accent1>
        <a:srgbClr val="00BAE6"/>
      </a:accent1>
      <a:accent2>
        <a:srgbClr val="FABB0A"/>
      </a:accent2>
      <a:accent3>
        <a:srgbClr val="667ECC"/>
      </a:accent3>
      <a:accent4>
        <a:srgbClr val="973F4E"/>
      </a:accent4>
      <a:accent5>
        <a:srgbClr val="C4D331"/>
      </a:accent5>
      <a:accent6>
        <a:srgbClr val="00BAE6"/>
      </a:accent6>
      <a:hlink>
        <a:srgbClr val="C22424"/>
      </a:hlink>
      <a:folHlink>
        <a:srgbClr val="87B9C3"/>
      </a:folHlink>
    </a:clrScheme>
    <a:fontScheme name="HOYUデザインレイアウトテンプレート">
      <a:majorFont>
        <a:latin typeface="A-OTF じゅん Pro 34"/>
        <a:ea typeface="A-OTF じゅん Pro 34"/>
        <a:cs typeface=""/>
      </a:majorFont>
      <a:minorFont>
        <a:latin typeface="A-OTF じゅん Pro 201"/>
        <a:ea typeface="A-OTF じゅん Pro 201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0">
              <a:schemeClr val="bg2">
                <a:lumMod val="90000"/>
              </a:schemeClr>
            </a:gs>
            <a:gs pos="50000">
              <a:srgbClr val="00B0F0"/>
            </a:gs>
            <a:gs pos="100000">
              <a:schemeClr val="bg2">
                <a:lumMod val="90000"/>
              </a:schemeClr>
            </a:gs>
          </a:gsLst>
          <a:lin ang="10800000" scaled="1"/>
          <a:tileRect/>
        </a:gradFill>
        <a:ln w="9525">
          <a:noFill/>
          <a:miter lim="800000"/>
          <a:headEnd/>
          <a:tailEnd/>
        </a:ln>
        <a:effectLst/>
      </a:spPr>
      <a:bodyPr wrap="none" anchor="ctr"/>
      <a:lstStyle>
        <a:defPPr>
          <a:defRPr/>
        </a:defPPr>
      </a:lstStyle>
    </a:spDef>
    <a:lnDef>
      <a:spPr>
        <a:ln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1200" dirty="0" smtClean="0">
            <a:latin typeface="MS UI Gothic" pitchFamily="50" charset="-128"/>
            <a:ea typeface="MS UI Gothic" pitchFamily="50" charset="-128"/>
          </a:defRPr>
        </a:defPPr>
      </a:lstStyle>
    </a:txDef>
  </a:objectDefaults>
  <a:extraClrSchemeLst>
    <a:extraClrScheme>
      <a:clrScheme name="HOYUデザインレイアウトテンプレー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OYUデザインレイアウトテンプレー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OYUデザインレイアウトテンプレー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☣NEW HOYU theme</Template>
  <TotalTime>26552</TotalTime>
  <Words>538</Words>
  <Application>Microsoft Office PowerPoint</Application>
  <PresentationFormat>A4 Paper (210x297 mm)</PresentationFormat>
  <Paragraphs>156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☣NEW HOYU theme</vt:lpstr>
      <vt:lpstr>TÀI LIỆU ĐỊNH NGHĨA YÊU CẦU TÍNH NĂNG CỦA D-MATCH  （2-2-3 : TÌM KIẾM GIÁ BÁN LẺ (DỮ LIỆU CHI TIẾT) (GRAPH))</vt:lpstr>
      <vt:lpstr>GIỚI THIỆU TỔNG QUÁT (1/4)　</vt:lpstr>
      <vt:lpstr>GIỚI THIỆU TỔNG QUÁT (2/4)　</vt:lpstr>
      <vt:lpstr>GIỚI THIỆU TỔNG QUÁT (3/4)　</vt:lpstr>
      <vt:lpstr>GIỚI THIỆU TỔNG QUÁT (4/4)　</vt:lpstr>
      <vt:lpstr>Transition diagram (trong màn hình)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HOYU70</dc:creator>
  <cp:lastModifiedBy>nguyen.thai.binh</cp:lastModifiedBy>
  <cp:revision>2443</cp:revision>
  <cp:lastPrinted>2015-09-16T04:25:41Z</cp:lastPrinted>
  <dcterms:created xsi:type="dcterms:W3CDTF">2010-04-07T02:08:55Z</dcterms:created>
  <dcterms:modified xsi:type="dcterms:W3CDTF">2016-05-25T10:01:55Z</dcterms:modified>
</cp:coreProperties>
</file>