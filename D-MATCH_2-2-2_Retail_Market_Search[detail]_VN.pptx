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19" r:id="rId1"/>
  </p:sldMasterIdLst>
  <p:notesMasterIdLst>
    <p:notesMasterId r:id="rId9"/>
  </p:notesMasterIdLst>
  <p:handoutMasterIdLst>
    <p:handoutMasterId r:id="rId10"/>
  </p:handoutMasterIdLst>
  <p:sldIdLst>
    <p:sldId id="256" r:id="rId2"/>
    <p:sldId id="323" r:id="rId3"/>
    <p:sldId id="329" r:id="rId4"/>
    <p:sldId id="330" r:id="rId5"/>
    <p:sldId id="331" r:id="rId6"/>
    <p:sldId id="327" r:id="rId7"/>
    <p:sldId id="324" r:id="rId8"/>
  </p:sldIdLst>
  <p:sldSz cx="9906000" cy="6858000" type="A4"/>
  <p:notesSz cx="6807200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30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D1D1"/>
    <a:srgbClr val="214369"/>
    <a:srgbClr val="9CBCDA"/>
    <a:srgbClr val="FFF7D5"/>
    <a:srgbClr val="CFDDE9"/>
    <a:srgbClr val="CCECFF"/>
    <a:srgbClr val="295483"/>
    <a:srgbClr val="FF6699"/>
    <a:srgbClr val="6D9DC9"/>
    <a:srgbClr val="1E95A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89813" autoAdjust="0"/>
  </p:normalViewPr>
  <p:slideViewPr>
    <p:cSldViewPr>
      <p:cViewPr>
        <p:scale>
          <a:sx n="125" d="100"/>
          <a:sy n="125" d="100"/>
        </p:scale>
        <p:origin x="-1068" y="384"/>
      </p:cViewPr>
      <p:guideLst>
        <p:guide orient="horz" pos="2160"/>
        <p:guide pos="3120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3450" y="-96"/>
      </p:cViewPr>
      <p:guideLst>
        <p:guide orient="horz" pos="3130"/>
        <p:guide pos="2143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350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52D31481-27B6-43B4-97D6-7F57AE923DFB}" type="datetimeFigureOut">
              <a:rPr lang="ja-JP" altLang="en-US"/>
              <a:pPr>
                <a:defRPr/>
              </a:pPr>
              <a:t>2016/5/25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350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1850E809-4CDE-4E04-82C0-F67474F4D84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2471196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350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3B249168-D4B7-4149-ABE6-E394CB7D331B}" type="datetimeFigureOut">
              <a:rPr lang="ja-JP" altLang="en-US"/>
              <a:pPr>
                <a:defRPr/>
              </a:pPr>
              <a:t>2016/5/25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8003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1199" y="4721225"/>
            <a:ext cx="5444806" cy="4471988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lang="ja-JP" altLang="en-US" noProof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1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350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5745C9DD-FF9F-4F50-9653-2EF238E6CE6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27476503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688524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2895260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802951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2211516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2517803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434292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7</a:t>
            </a:fld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191814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2492378"/>
            <a:ext cx="9906000" cy="72529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5000">
                <a:schemeClr val="accent6"/>
              </a:gs>
              <a:gs pos="85000">
                <a:schemeClr val="accent6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232921" y="6616011"/>
            <a:ext cx="1426738" cy="241991"/>
          </a:xfrm>
          <a:prstGeom prst="rect">
            <a:avLst/>
          </a:prstGeom>
          <a:noFill/>
          <a:ln>
            <a:noFill/>
          </a:ln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6946" y="1628778"/>
            <a:ext cx="9672108" cy="822325"/>
          </a:xfrm>
        </p:spPr>
        <p:txBody>
          <a:bodyPr anchor="b"/>
          <a:lstStyle>
            <a:lvl1pPr algn="ctr">
              <a:defRPr sz="3200"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2708920"/>
            <a:ext cx="6934200" cy="576262"/>
          </a:xfrm>
        </p:spPr>
        <p:txBody>
          <a:bodyPr/>
          <a:lstStyle>
            <a:lvl1pPr marL="0" indent="0" algn="ctr"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ja-JP" alt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267840" cy="4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  <a:endParaRPr lang="ja-JP" altLang="en-US" dirty="0" smtClean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8189650" y="6669360"/>
            <a:ext cx="1716352" cy="188640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800">
                <a:latin typeface="Century Gothic" pitchFamily="34" charset="0"/>
                <a:ea typeface="メイリオ" pitchFamily="50" charset="-128"/>
                <a:cs typeface="メイリオ" pitchFamily="50" charset="-128"/>
              </a:defRPr>
            </a:lvl1pPr>
          </a:lstStyle>
          <a:p>
            <a:pPr>
              <a:defRPr/>
            </a:pPr>
            <a:r>
              <a:rPr lang="en-US" altLang="ja-JP" dirty="0" smtClean="0"/>
              <a:t>Copyright (c) 2014 HOYU </a:t>
            </a:r>
            <a:r>
              <a:rPr lang="en-US" altLang="ja-JP" dirty="0" err="1" smtClean="0"/>
              <a:t>co.ltd</a:t>
            </a:r>
            <a:r>
              <a:rPr lang="en-US" altLang="ja-JP" dirty="0" smtClean="0"/>
              <a:t>. All Rights Reserved.</a:t>
            </a:r>
            <a:endParaRPr lang="en-US" altLang="ja-JP" dirty="0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" y="6669360"/>
            <a:ext cx="992319" cy="18864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800"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0" y="6638400"/>
            <a:ext cx="9906000" cy="1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rgbClr val="00B0F0"/>
              </a:gs>
              <a:gs pos="100000">
                <a:schemeClr val="bg2">
                  <a:lumMod val="9000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0" y="332656"/>
            <a:ext cx="9906000" cy="36000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100000">
                <a:srgbClr val="ABABAB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8746903" y="63798"/>
            <a:ext cx="11590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267840" cy="33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6464" y="476672"/>
            <a:ext cx="9673075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6669191" y="6669360"/>
            <a:ext cx="3236810" cy="188640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600">
                <a:latin typeface="Century Gothic" pitchFamily="34" charset="0"/>
                <a:ea typeface="メイリオ" pitchFamily="50" charset="-128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ja-JP" dirty="0" smtClean="0"/>
              <a:t>Copyright (c) 2010 HOYU co.ltd. All Rights Reserved.</a:t>
            </a:r>
            <a:endParaRPr lang="en-US" altLang="ja-JP" dirty="0"/>
          </a:p>
        </p:txBody>
      </p:sp>
      <p:sp>
        <p:nvSpPr>
          <p:cNvPr id="8" name="日付プレースホルダ 3"/>
          <p:cNvSpPr txBox="1">
            <a:spLocks/>
          </p:cNvSpPr>
          <p:nvPr/>
        </p:nvSpPr>
        <p:spPr>
          <a:xfrm>
            <a:off x="4094825" y="6669360"/>
            <a:ext cx="1716352" cy="18864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000">
                <a:latin typeface="Century Gothic" pitchFamily="34" charset="0"/>
                <a:ea typeface="メイリオ" pitchFamily="50" charset="-128"/>
                <a:cs typeface="メイリオ" pitchFamily="50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itchFamily="34" charset="0"/>
                <a:ea typeface="メイリオ" pitchFamily="50" charset="-128"/>
                <a:cs typeface="メイリオ" pitchFamily="50" charset="-128"/>
              </a:rPr>
              <a:t>CONFIDENTIAL</a:t>
            </a:r>
            <a:endParaRPr kumimoji="1" lang="en-US" altLang="ja-JP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" y="6669360"/>
            <a:ext cx="992319" cy="18864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800">
                <a:latin typeface="Century Gothic" pitchFamily="34" charset="0"/>
              </a:defRPr>
            </a:lvl1pPr>
          </a:lstStyle>
          <a:p>
            <a:pPr>
              <a:defRPr/>
            </a:pPr>
            <a:fld id="{7E26BBE9-1171-4755-8BA0-6A5F158C4BA5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0" r:id="rId1"/>
    <p:sldLayoutId id="2147484421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6946" y="1196753"/>
            <a:ext cx="9672108" cy="1295624"/>
          </a:xfrm>
        </p:spPr>
        <p:txBody>
          <a:bodyPr/>
          <a:lstStyle/>
          <a:p>
            <a:r>
              <a:rPr lang="en-US" altLang="ja-JP" b="1" dirty="0" smtClean="0">
                <a:latin typeface="Times New Roman" pitchFamily="18" charset="0"/>
                <a:cs typeface="Times New Roman" pitchFamily="18" charset="0"/>
              </a:rPr>
              <a:t>TÀI LIỆU ĐỊNH NGHĨA YÊU CẦU TÍNH NĂNG CỦA D-MATCH </a:t>
            </a:r>
            <a:br>
              <a:rPr lang="en-US" altLang="ja-JP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ja-JP" altLang="en-US" sz="1800" b="1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800" b="1" dirty="0" smtClean="0">
                <a:latin typeface="Times New Roman" pitchFamily="18" charset="0"/>
                <a:cs typeface="Times New Roman" pitchFamily="18" charset="0"/>
              </a:rPr>
              <a:t>2-2-2: TÌM KIẾM GIÁ BÁN LẺ (DỮ LIỆU CHI TIẾT)</a:t>
            </a:r>
            <a:r>
              <a:rPr lang="ja-JP" altLang="en-US" sz="1800" b="1" smtClean="0">
                <a:latin typeface="Times New Roman" pitchFamily="18" charset="0"/>
                <a:cs typeface="Times New Roman" pitchFamily="18" charset="0"/>
              </a:rPr>
              <a:t>）</a:t>
            </a:r>
            <a:endParaRPr lang="ja-JP" altLang="ja-JP" sz="1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72480" y="116632"/>
            <a:ext cx="916805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9pPr>
          </a:lstStyle>
          <a:p>
            <a:r>
              <a:rPr lang="en-US" altLang="ja-JP" kern="0" dirty="0" err="1" smtClean="0">
                <a:latin typeface="Times New Roman" pitchFamily="18" charset="0"/>
                <a:cs typeface="Times New Roman" pitchFamily="18" charset="0"/>
              </a:rPr>
              <a:t>Dành</a:t>
            </a:r>
            <a:r>
              <a:rPr lang="en-US" altLang="ja-JP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kern="0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altLang="ja-JP" kern="0" dirty="0" smtClean="0">
                <a:latin typeface="Times New Roman" pitchFamily="18" charset="0"/>
                <a:cs typeface="Times New Roman" pitchFamily="18" charset="0"/>
              </a:rPr>
              <a:t> Recruit Marketing Partners</a:t>
            </a:r>
            <a:endParaRPr lang="ja-JP" altLang="ja-JP" kern="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smtClean="0">
                <a:latin typeface="Times New Roman" pitchFamily="18" charset="0"/>
                <a:cs typeface="Times New Roman" pitchFamily="18" charset="0"/>
              </a:rPr>
              <a:t>2016/5/13</a:t>
            </a:r>
            <a:endParaRPr kumimoji="1"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(1/5)</a:t>
            </a:r>
            <a:r>
              <a:rPr kumimoji="1" lang="ja-JP" altLang="en-US" dirty="0" smtClean="0">
                <a:latin typeface="Times New Roman" pitchFamily="18" charset="0"/>
                <a:cs typeface="Times New Roman" pitchFamily="18" charset="0"/>
              </a:rPr>
              <a:t>　</a:t>
            </a:r>
            <a:endParaRPr kumimoji="1"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253754" y="1196752"/>
            <a:ext cx="9523781" cy="291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○</a:t>
            </a:r>
            <a:r>
              <a:rPr lang="ja-JP" altLang="en-US" sz="1200" b="1" kern="0" dirty="0" smtClean="0">
                <a:latin typeface="Times New Roman" pitchFamily="18" charset="0"/>
                <a:cs typeface="Times New Roman" pitchFamily="18" charset="0"/>
              </a:rPr>
              <a:t>遷移元の画面と検索条件</a:t>
            </a:r>
            <a:endParaRPr lang="en-US" altLang="ja-JP" sz="1200" b="1" kern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15709050"/>
              </p:ext>
            </p:extLst>
          </p:nvPr>
        </p:nvGraphicFramePr>
        <p:xfrm>
          <a:off x="253754" y="1546746"/>
          <a:ext cx="951388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30"/>
                <a:gridCol w="802005"/>
                <a:gridCol w="2822893"/>
                <a:gridCol w="3442018"/>
                <a:gridCol w="1889443"/>
              </a:tblGrid>
              <a:tr h="1327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smtClean="0"/>
                        <a:t>No.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 smtClean="0"/>
                        <a:t>画面</a:t>
                      </a:r>
                      <a:r>
                        <a:rPr kumimoji="1" lang="en-US" altLang="ja-JP" sz="1200" dirty="0" smtClean="0"/>
                        <a:t>ID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 smtClean="0"/>
                        <a:t>遷移元画面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 smtClean="0"/>
                        <a:t>検索条件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 smtClean="0"/>
                        <a:t>表示しない一覧項目</a:t>
                      </a:r>
                      <a:endParaRPr kumimoji="1" lang="ja-JP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１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2-2-1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小売相場検索（条件指定）画面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画面上で設定した検索条件すべて</a:t>
                      </a:r>
                      <a:endParaRPr kumimoji="1" lang="en-US" altLang="ja-JP" sz="1200" dirty="0" smtClean="0"/>
                    </a:p>
                    <a:p>
                      <a:r>
                        <a:rPr kumimoji="1" lang="ja-JP" altLang="en-US" sz="1200" dirty="0" smtClean="0"/>
                        <a:t>（詳細条件含む）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検索条件で指定した項目</a:t>
                      </a:r>
                      <a:endParaRPr kumimoji="1" lang="ja-JP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２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2-2-1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小売相場検索（条件指定）画面</a:t>
                      </a:r>
                      <a:endParaRPr kumimoji="1" lang="en-US" altLang="ja-JP" sz="1200" dirty="0" smtClean="0"/>
                    </a:p>
                    <a:p>
                      <a:r>
                        <a:rPr kumimoji="1" lang="en-US" altLang="ja-JP" sz="1200" dirty="0" smtClean="0"/>
                        <a:t>※</a:t>
                      </a:r>
                      <a:r>
                        <a:rPr kumimoji="1" lang="ja-JP" altLang="en-US" sz="1200" dirty="0" smtClean="0"/>
                        <a:t>お気に入り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 smtClean="0"/>
                        <a:t>登録した検索条件すべて</a:t>
                      </a:r>
                      <a:endParaRPr kumimoji="1" lang="en-US" altLang="ja-JP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 smtClean="0"/>
                        <a:t>（詳細条件含む）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検索条件で指定していた項目</a:t>
                      </a:r>
                      <a:endParaRPr kumimoji="1" lang="ja-JP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３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2-2-1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小売相場検索（条件指定）画面</a:t>
                      </a:r>
                      <a:endParaRPr kumimoji="1" lang="en-US" altLang="ja-JP" sz="1200" dirty="0" smtClean="0"/>
                    </a:p>
                    <a:p>
                      <a:r>
                        <a:rPr kumimoji="1" lang="en-US" altLang="ja-JP" sz="1200" dirty="0" smtClean="0"/>
                        <a:t>※</a:t>
                      </a:r>
                      <a:r>
                        <a:rPr kumimoji="1" lang="ja-JP" altLang="en-US" sz="1200" dirty="0" smtClean="0"/>
                        <a:t>検索履歴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 smtClean="0"/>
                        <a:t>登録した検索条件すべて</a:t>
                      </a:r>
                      <a:endParaRPr kumimoji="1" lang="en-US" altLang="ja-JP" sz="12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 smtClean="0"/>
                        <a:t>（詳細条件含む）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 smtClean="0"/>
                        <a:t>検索条件で指定していた項目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4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物件仕入サーチ画面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200" kern="0" dirty="0" smtClean="0"/>
                        <a:t>ボディタイプ、メーカー・車種、</a:t>
                      </a:r>
                      <a:r>
                        <a:rPr lang="en-US" altLang="ja-JP" sz="1200" kern="0" dirty="0" smtClean="0"/>
                        <a:t>FMC</a:t>
                      </a:r>
                      <a:r>
                        <a:rPr lang="ja-JP" altLang="en-US" sz="1200" kern="0" dirty="0" err="1" smtClean="0"/>
                        <a:t>、</a:t>
                      </a:r>
                      <a:endParaRPr lang="en-US" altLang="ja-JP" sz="1200" kern="0" dirty="0" smtClean="0"/>
                    </a:p>
                    <a:p>
                      <a:r>
                        <a:rPr lang="ja-JP" altLang="en-US" sz="1200" kern="0" dirty="0" smtClean="0"/>
                        <a:t>本体色、修復歴、年式（</a:t>
                      </a:r>
                      <a:r>
                        <a:rPr lang="en-US" altLang="ja-JP" sz="1200" kern="0" dirty="0" smtClean="0"/>
                        <a:t>FROM</a:t>
                      </a:r>
                      <a:r>
                        <a:rPr lang="ja-JP" altLang="en-US" sz="1200" kern="0" dirty="0" smtClean="0"/>
                        <a:t>～</a:t>
                      </a:r>
                      <a:r>
                        <a:rPr lang="en-US" altLang="ja-JP" sz="1200" kern="0" dirty="0" smtClean="0"/>
                        <a:t>TO</a:t>
                      </a:r>
                      <a:r>
                        <a:rPr lang="ja-JP" altLang="en-US" sz="1200" kern="0" dirty="0" smtClean="0"/>
                        <a:t>）、</a:t>
                      </a:r>
                      <a:endParaRPr lang="en-US" altLang="ja-JP" sz="1200" kern="0" dirty="0" smtClean="0"/>
                    </a:p>
                    <a:p>
                      <a:r>
                        <a:rPr lang="ja-JP" altLang="en-US" sz="1200" kern="0" dirty="0" smtClean="0"/>
                        <a:t>走行距離（</a:t>
                      </a:r>
                      <a:r>
                        <a:rPr lang="en-US" altLang="ja-JP" sz="1200" kern="0" dirty="0" smtClean="0"/>
                        <a:t>FROM</a:t>
                      </a:r>
                      <a:r>
                        <a:rPr lang="ja-JP" altLang="en-US" sz="1200" kern="0" dirty="0" smtClean="0"/>
                        <a:t>～</a:t>
                      </a:r>
                      <a:r>
                        <a:rPr lang="en-US" altLang="ja-JP" sz="1200" kern="0" dirty="0" smtClean="0"/>
                        <a:t>TO</a:t>
                      </a:r>
                      <a:r>
                        <a:rPr lang="ja-JP" altLang="en-US" sz="1200" kern="0" dirty="0" smtClean="0"/>
                        <a:t>）、</a:t>
                      </a:r>
                      <a:endParaRPr lang="en-US" altLang="ja-JP" sz="1200" kern="0" dirty="0" smtClean="0"/>
                    </a:p>
                    <a:p>
                      <a:r>
                        <a:rPr lang="ja-JP" altLang="en-US" sz="1200" kern="0" dirty="0" smtClean="0"/>
                        <a:t>エリア（都道府県）、</a:t>
                      </a:r>
                      <a:endParaRPr lang="en-US" altLang="ja-JP" sz="1200" kern="0" dirty="0" smtClean="0"/>
                    </a:p>
                    <a:p>
                      <a:r>
                        <a:rPr lang="ja-JP" altLang="en-US" sz="1200" kern="0" dirty="0" smtClean="0"/>
                        <a:t>在庫期間（</a:t>
                      </a:r>
                      <a:r>
                        <a:rPr lang="en-US" altLang="ja-JP" sz="1200" kern="0" dirty="0" smtClean="0"/>
                        <a:t>FROM</a:t>
                      </a:r>
                      <a:r>
                        <a:rPr lang="ja-JP" altLang="en-US" sz="1200" kern="0" dirty="0" smtClean="0"/>
                        <a:t>～</a:t>
                      </a:r>
                      <a:r>
                        <a:rPr lang="en-US" altLang="ja-JP" sz="1200" kern="0" dirty="0" smtClean="0"/>
                        <a:t>TO</a:t>
                      </a:r>
                      <a:r>
                        <a:rPr lang="ja-JP" altLang="en-US" sz="1200" kern="0" dirty="0" smtClean="0"/>
                        <a:t>）</a:t>
                      </a:r>
                      <a:endParaRPr lang="en-US" altLang="ja-JP" sz="1200" kern="0" dirty="0" smtClean="0"/>
                    </a:p>
                    <a:p>
                      <a:endParaRPr lang="en-US" altLang="ja-JP" sz="1200" kern="0" dirty="0" smtClean="0"/>
                    </a:p>
                    <a:p>
                      <a:r>
                        <a:rPr lang="en-US" altLang="ja-JP" sz="1200" kern="0" dirty="0" smtClean="0"/>
                        <a:t>※</a:t>
                      </a:r>
                      <a:r>
                        <a:rPr lang="ja-JP" altLang="en-US" sz="1200" kern="0" dirty="0" smtClean="0"/>
                        <a:t>上記のうち、指定した項目のみ</a:t>
                      </a:r>
                      <a:endParaRPr lang="en-US" altLang="ja-JP" sz="1200" kern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メーカー、車種、型式、グレード</a:t>
                      </a:r>
                      <a:endParaRPr kumimoji="1" lang="ja-JP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5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2-4-2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グレード検索（結果確認）画面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kern="0" dirty="0" smtClean="0"/>
                        <a:t>メーカー、車種、型式、グレード</a:t>
                      </a:r>
                      <a:endParaRPr lang="en-US" altLang="ja-JP" sz="1200" kern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 smtClean="0"/>
                        <a:t>メーカー、車種、型式、グレード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6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/>
                        <a:t>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 smtClean="0"/>
                        <a:t>販売済物件一覧</a:t>
                      </a:r>
                      <a:endParaRPr kumimoji="1" lang="en-US" altLang="ja-JP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kern="0" dirty="0" smtClean="0"/>
                        <a:t>メーカー、車種、型式、グレード</a:t>
                      </a:r>
                      <a:endParaRPr lang="en-US" altLang="ja-JP" sz="1200" kern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 smtClean="0"/>
                        <a:t>メーカー、車種、型式、グレード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9"/>
          <p:cNvSpPr txBox="1">
            <a:spLocks noChangeArrowheads="1"/>
          </p:cNvSpPr>
          <p:nvPr/>
        </p:nvSpPr>
        <p:spPr bwMode="auto">
          <a:xfrm>
            <a:off x="118572" y="497540"/>
            <a:ext cx="9649071" cy="627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・遷移前の画面から引き継いだ検索条件で一覧を表示する。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画面表示時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に一覧を検索した条件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を</a:t>
            </a:r>
            <a:r>
              <a:rPr lang="en-US" altLang="ja-JP" sz="1200" kern="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（検索履歴）に登録する。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55632" y="3212976"/>
            <a:ext cx="9482727" cy="1296144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Do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chúng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tôi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chưa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xác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định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spec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tìm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kiếm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sản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phẩm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mua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bán</a:t>
            </a:r>
            <a:endParaRPr lang="en-US" altLang="ja-JP" sz="2000" dirty="0" smtClean="0">
              <a:solidFill>
                <a:schemeClr val="bg1"/>
              </a:solidFill>
              <a:latin typeface="Times New Roman" pitchFamily="18" charset="0"/>
              <a:ea typeface="HGPｺﾞｼｯｸM" panose="020B0600000000000000" pitchFamily="50" charset="-128"/>
              <a:cs typeface="Times New Roman" pitchFamily="18" charset="0"/>
            </a:endParaRPr>
          </a:p>
          <a:p>
            <a:pPr algn="ctr"/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n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ên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phần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này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tôi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sẽ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tạo</a:t>
            </a:r>
            <a:r>
              <a:rPr lang="en-US" altLang="ja-JP" sz="20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20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sau</a:t>
            </a:r>
            <a:endParaRPr lang="en-US" altLang="ja-JP" sz="2000" dirty="0" smtClean="0">
              <a:solidFill>
                <a:schemeClr val="bg1"/>
              </a:solidFill>
              <a:latin typeface="Times New Roman" pitchFamily="18" charset="0"/>
              <a:ea typeface="HGPｺﾞｼｯｸM" panose="020B0600000000000000" pitchFamily="50" charset="-128"/>
              <a:cs typeface="Times New Roman" pitchFamily="18" charset="0"/>
            </a:endParaRPr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68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(2/5)</a:t>
            </a:r>
            <a:r>
              <a:rPr kumimoji="1" lang="ja-JP" altLang="en-US" dirty="0" smtClean="0"/>
              <a:t>　</a:t>
            </a:r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36107019"/>
              </p:ext>
            </p:extLst>
          </p:nvPr>
        </p:nvGraphicFramePr>
        <p:xfrm>
          <a:off x="253754" y="488880"/>
          <a:ext cx="951388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30"/>
                <a:gridCol w="802005"/>
                <a:gridCol w="2822893"/>
                <a:gridCol w="3442018"/>
                <a:gridCol w="1889443"/>
              </a:tblGrid>
              <a:tr h="1327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Screen ID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Screen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tìm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kiếm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Mục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sách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hiển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thị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2-3-2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Màn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tìm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kiếm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giá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AA</a:t>
                      </a:r>
                      <a:r>
                        <a:rPr kumimoji="1" lang="ja-JP" altLang="en-US" sz="120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dữ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liệu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chi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tiết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1" lang="en-US" altLang="ja-JP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Maker/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Car model, 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FMC, Model code, Grade, Body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color, </a:t>
                      </a: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Repair history, </a:t>
                      </a:r>
                      <a:r>
                        <a:rPr kumimoji="1" lang="en-US" altLang="ja-JP" sz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Mileage 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(FROM~TO), </a:t>
                      </a: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Model year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FROM~TO), 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tất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cả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chi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tiết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Chỉ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có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mục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đã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chỉ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định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trong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danh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sách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trên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bao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gồm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Area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Maker, Car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model, Model code, Grade</a:t>
                      </a:r>
                      <a:endParaRPr kumimoji="1" lang="ja-JP" alt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Màn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đăng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ký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sản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phẩm</a:t>
                      </a:r>
                      <a:endParaRPr kumimoji="1" lang="en-US" altLang="ja-JP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Maker, Car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model, Model code, Grade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ja-JP" altLang="en-US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Model year, 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Repair history,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ja-JP" altLang="en-US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Body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color,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kumimoji="1" lang="en-US" altLang="ja-JP" sz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Mileage 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Phần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sẽ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tiếp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tục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chỉ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khi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đã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thiết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lập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trong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màn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thiết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lập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(Screen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ID: 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2-6)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Maker, Car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model, Model code, Grade</a:t>
                      </a:r>
                      <a:endParaRPr kumimoji="1" lang="ja-JP" alt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9"/>
          <p:cNvSpPr txBox="1">
            <a:spLocks noChangeArrowheads="1"/>
          </p:cNvSpPr>
          <p:nvPr/>
        </p:nvSpPr>
        <p:spPr bwMode="auto">
          <a:xfrm>
            <a:off x="253754" y="3356992"/>
            <a:ext cx="9379766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○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/ Link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endParaRPr lang="en-US" altLang="ja-JP" sz="1200" b="1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b="1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詳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細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b="1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b="1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Area)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sang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(Screen ID: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2-3-2 (Window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２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．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お気に入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り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(My favorites)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DB (My favorites)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３．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ソー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ト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(Sort)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key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４．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カメ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ラ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(camera)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gallery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Gallery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”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2685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(3/5)</a:t>
            </a:r>
            <a:endParaRPr kumimoji="1" lang="ja-JP" altLang="en-US" dirty="0"/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255632" y="548680"/>
            <a:ext cx="9274184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５．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en-US" altLang="ja-JP" sz="1200" kern="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tắt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６．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次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へ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(Next)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(50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2,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3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101~150)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0)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次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へ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(Next)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７．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前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へ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(Back)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(50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3,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2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51~100)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前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へ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(Back)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８．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初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初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９．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後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0)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後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１０．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ページ番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号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201~250)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6954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(4/5)</a:t>
            </a:r>
            <a:endParaRPr kumimoji="1"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255632" y="476672"/>
            <a:ext cx="9274184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１１．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Tab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年式／走行距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離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(Model year/ Mileage)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○マトリック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ス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１２．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選択範囲を反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映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ánh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「○マトリックス」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１３．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Tab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検索結果一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覧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○一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覧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１４．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再検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索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)( Screen ID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2-3-1)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344488" y="4504544"/>
            <a:ext cx="9401352" cy="1588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b="1" kern="0" smtClean="0">
                <a:latin typeface="Times New Roman" pitchFamily="18" charset="0"/>
                <a:cs typeface="Times New Roman" pitchFamily="18" charset="0"/>
              </a:rPr>
              <a:t>○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endParaRPr lang="en-US" altLang="ja-JP" sz="1200" b="1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gross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profit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(average unit price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yên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phù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２．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yên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phù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Area)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３．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gross profit: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gross profit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124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(5/5)</a:t>
            </a:r>
            <a:endParaRPr kumimoji="1"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344488" y="692696"/>
            <a:ext cx="940518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b="1" kern="0" smtClean="0">
                <a:latin typeface="Times New Roman" pitchFamily="18" charset="0"/>
                <a:cs typeface="Times New Roman" pitchFamily="18" charset="0"/>
              </a:rPr>
              <a:t>○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b="1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Tùy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○遷移元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の画面と検索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条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件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(Screen ID:1-2)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user log in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50.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50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(paging).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nằm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server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phía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C-MATCH,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camera icon.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272480" y="3212976"/>
            <a:ext cx="9401352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○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Matrix</a:t>
            </a:r>
            <a:endParaRPr lang="en-US" altLang="ja-JP" sz="1200" b="1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X: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Y: Mileage,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cột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X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1989, 1990……..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nay (2016)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Y (Mileage): 0 ~ 100000 kilometer 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10000 kilometer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balloon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9750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Transition diagram (</a:t>
            </a:r>
            <a:r>
              <a:rPr lang="en-US" altLang="ja-JP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kumimoji="1"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テキスト ボックス 1"/>
          <p:cNvSpPr txBox="1"/>
          <p:nvPr/>
        </p:nvSpPr>
        <p:spPr>
          <a:xfrm>
            <a:off x="2950374" y="4517684"/>
            <a:ext cx="3010738" cy="964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2-2-2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: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chi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125" name="直線矢印コネクタ 124"/>
          <p:cNvCxnSpPr>
            <a:stCxn id="124" idx="2"/>
            <a:endCxn id="132" idx="0"/>
          </p:cNvCxnSpPr>
          <p:nvPr/>
        </p:nvCxnSpPr>
        <p:spPr>
          <a:xfrm>
            <a:off x="4455743" y="5481823"/>
            <a:ext cx="6744" cy="375783"/>
          </a:xfrm>
          <a:prstGeom prst="straightConnector1">
            <a:avLst/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/>
          <p:cNvCxnSpPr>
            <a:stCxn id="129" idx="2"/>
            <a:endCxn id="130" idx="0"/>
          </p:cNvCxnSpPr>
          <p:nvPr/>
        </p:nvCxnSpPr>
        <p:spPr>
          <a:xfrm>
            <a:off x="4148205" y="1218853"/>
            <a:ext cx="0" cy="34409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7" name="テキスト ボックス 4"/>
          <p:cNvSpPr txBox="1"/>
          <p:nvPr/>
        </p:nvSpPr>
        <p:spPr>
          <a:xfrm>
            <a:off x="4448944" y="1340768"/>
            <a:ext cx="1166475" cy="53615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tab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条件指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定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hỉ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định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điều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kiện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28" name="テキスト ボックス 5"/>
          <p:cNvSpPr txBox="1"/>
          <p:nvPr/>
        </p:nvSpPr>
        <p:spPr>
          <a:xfrm>
            <a:off x="3440832" y="548680"/>
            <a:ext cx="2031616" cy="7080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2-2-1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: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chỉ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định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điều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kiện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29" name="正方形/長方形 128"/>
          <p:cNvSpPr/>
          <p:nvPr/>
        </p:nvSpPr>
        <p:spPr>
          <a:xfrm>
            <a:off x="4016896" y="980728"/>
            <a:ext cx="262617" cy="238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正方形/長方形 129"/>
          <p:cNvSpPr/>
          <p:nvPr/>
        </p:nvSpPr>
        <p:spPr>
          <a:xfrm>
            <a:off x="4016896" y="4659767"/>
            <a:ext cx="262617" cy="238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1" name="直線矢印コネクタ 130"/>
          <p:cNvCxnSpPr>
            <a:stCxn id="124" idx="0"/>
            <a:endCxn id="128" idx="2"/>
          </p:cNvCxnSpPr>
          <p:nvPr/>
        </p:nvCxnSpPr>
        <p:spPr>
          <a:xfrm flipV="1">
            <a:off x="4455743" y="1256689"/>
            <a:ext cx="897" cy="32609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2" name="テキスト ボックス 9"/>
          <p:cNvSpPr txBox="1"/>
          <p:nvPr/>
        </p:nvSpPr>
        <p:spPr>
          <a:xfrm>
            <a:off x="3152800" y="5857606"/>
            <a:ext cx="2619374" cy="6773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solidFill>
                <a:sysClr val="windowText" lastClr="000000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2-3-2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: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AA 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chi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solidFill>
                <a:sysClr val="windowText" lastClr="000000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※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Tình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trạng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đã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hiển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thị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sau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khi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endParaRPr kumimoji="1" lang="en-US" altLang="ja-JP" sz="900" dirty="0" smtClean="0">
              <a:solidFill>
                <a:sysClr val="windowText" lastClr="000000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※</a:t>
            </a:r>
            <a:r>
              <a:rPr kumimoji="1"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Có</a:t>
            </a:r>
            <a:r>
              <a:rPr kumimoji="1"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navigation tab</a:t>
            </a:r>
            <a:endParaRPr kumimoji="1" lang="en-US" altLang="ja-JP" sz="900" dirty="0">
              <a:solidFill>
                <a:sysClr val="windowText" lastClr="000000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33" name="テキスト ボックス 10"/>
          <p:cNvSpPr txBox="1"/>
          <p:nvPr/>
        </p:nvSpPr>
        <p:spPr>
          <a:xfrm>
            <a:off x="2403510" y="5492376"/>
            <a:ext cx="2357439" cy="47625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「詳細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 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(chi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của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mục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AA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34" name="テキスト ボックス 11"/>
          <p:cNvSpPr txBox="1"/>
          <p:nvPr/>
        </p:nvSpPr>
        <p:spPr>
          <a:xfrm>
            <a:off x="2629424" y="1268760"/>
            <a:ext cx="1754779" cy="51795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kumimoji="1" lang="en-US" altLang="ja-JP" sz="900" dirty="0" err="1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kumimoji="1" lang="ja-JP" altLang="en-US" sz="90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検</a:t>
            </a:r>
            <a:r>
              <a:rPr kumimoji="1" lang="ja-JP" altLang="en-US" sz="90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索</a:t>
            </a:r>
            <a:r>
              <a:rPr kumimoji="1" lang="ja-JP" altLang="en-US" sz="90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solidFill>
                <a:schemeClr val="tx1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grpSp>
        <p:nvGrpSpPr>
          <p:cNvPr id="135" name="グループ化 134"/>
          <p:cNvGrpSpPr/>
          <p:nvPr/>
        </p:nvGrpSpPr>
        <p:grpSpPr>
          <a:xfrm>
            <a:off x="121192" y="5433153"/>
            <a:ext cx="2095504" cy="1127230"/>
            <a:chOff x="10260385" y="5729836"/>
            <a:chExt cx="2151534" cy="1647267"/>
          </a:xfrm>
        </p:grpSpPr>
        <p:sp>
          <p:nvSpPr>
            <p:cNvPr id="167" name="テキスト ボックス 13"/>
            <p:cNvSpPr txBox="1"/>
            <p:nvPr/>
          </p:nvSpPr>
          <p:spPr>
            <a:xfrm>
              <a:off x="10260385" y="5729836"/>
              <a:ext cx="2151531" cy="1647266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【</a:t>
              </a:r>
              <a:r>
                <a:rPr kumimoji="1"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Chú</a:t>
              </a:r>
              <a:r>
                <a:rPr kumimoji="1"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 </a:t>
              </a:r>
              <a:r>
                <a:rPr kumimoji="1"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thích</a:t>
              </a:r>
              <a:r>
                <a:rPr kumimoji="1"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】</a:t>
              </a:r>
              <a:endParaRPr kumimoji="1" lang="en-US" altLang="ja-JP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  <a:p>
              <a:pPr algn="l"/>
              <a:endParaRPr kumimoji="1" lang="en-US" altLang="ja-JP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cxnSp>
          <p:nvCxnSpPr>
            <p:cNvPr id="168" name="直線矢印コネクタ 167"/>
            <p:cNvCxnSpPr/>
            <p:nvPr/>
          </p:nvCxnSpPr>
          <p:spPr>
            <a:xfrm>
              <a:off x="10529328" y="6200486"/>
              <a:ext cx="268942" cy="0"/>
            </a:xfrm>
            <a:prstGeom prst="straightConnector1">
              <a:avLst/>
            </a:prstGeom>
            <a:ln w="19050">
              <a:solidFill>
                <a:sysClr val="windowText" lastClr="0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テキスト ボックス 15"/>
            <p:cNvSpPr txBox="1"/>
            <p:nvPr/>
          </p:nvSpPr>
          <p:spPr>
            <a:xfrm>
              <a:off x="11067212" y="5965162"/>
              <a:ext cx="1344707" cy="47064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Window </a:t>
              </a:r>
              <a:r>
                <a:rPr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khác</a:t>
              </a:r>
              <a:endPara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cxnSp>
          <p:nvCxnSpPr>
            <p:cNvPr id="170" name="直線矢印コネクタ 169"/>
            <p:cNvCxnSpPr/>
            <p:nvPr/>
          </p:nvCxnSpPr>
          <p:spPr>
            <a:xfrm>
              <a:off x="10529327" y="6671135"/>
              <a:ext cx="2689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テキスト ボックス 17"/>
            <p:cNvSpPr txBox="1"/>
            <p:nvPr/>
          </p:nvSpPr>
          <p:spPr>
            <a:xfrm>
              <a:off x="11067211" y="6435810"/>
              <a:ext cx="1344707" cy="47064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Cùng</a:t>
              </a:r>
              <a:r>
                <a:rPr kumimoji="1"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 window</a:t>
              </a:r>
              <a:endPara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sp>
          <p:nvSpPr>
            <p:cNvPr id="172" name="テキスト ボックス 18"/>
            <p:cNvSpPr txBox="1"/>
            <p:nvPr/>
          </p:nvSpPr>
          <p:spPr>
            <a:xfrm>
              <a:off x="11067210" y="6906455"/>
              <a:ext cx="1344707" cy="47064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Bảo</a:t>
              </a:r>
              <a:r>
                <a:rPr kumimoji="1"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 </a:t>
              </a:r>
              <a:r>
                <a:rPr kumimoji="1"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lưu</a:t>
              </a:r>
              <a:r>
                <a:rPr kumimoji="1"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 DB</a:t>
              </a:r>
              <a:endPara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sp>
          <p:nvSpPr>
            <p:cNvPr id="173" name="フローチャート: 磁気ディスク 172"/>
            <p:cNvSpPr/>
            <p:nvPr/>
          </p:nvSpPr>
          <p:spPr>
            <a:xfrm>
              <a:off x="10529327" y="7007306"/>
              <a:ext cx="257735" cy="23532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9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36" name="正方形/長方形 135"/>
          <p:cNvSpPr/>
          <p:nvPr/>
        </p:nvSpPr>
        <p:spPr>
          <a:xfrm>
            <a:off x="4736976" y="4659767"/>
            <a:ext cx="268940" cy="238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" name="テキスト ボックス 21"/>
          <p:cNvSpPr txBox="1"/>
          <p:nvPr/>
        </p:nvSpPr>
        <p:spPr>
          <a:xfrm>
            <a:off x="5817096" y="548680"/>
            <a:ext cx="1833565" cy="699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2-1</a:t>
            </a:r>
            <a:r>
              <a:rPr kumimoji="1" lang="ja-JP" altLang="en-US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：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仕入物件</a:t>
            </a:r>
            <a:r>
              <a:rPr kumimoji="1" lang="ja-JP" altLang="en-US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サーチ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38" name="テキスト ボックス 22"/>
          <p:cNvSpPr txBox="1"/>
          <p:nvPr/>
        </p:nvSpPr>
        <p:spPr>
          <a:xfrm>
            <a:off x="7761312" y="554945"/>
            <a:ext cx="1660474" cy="7017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2-4-2: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grade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xác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nhận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kết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quả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39" name="テキスト ボックス 23"/>
          <p:cNvSpPr txBox="1"/>
          <p:nvPr/>
        </p:nvSpPr>
        <p:spPr>
          <a:xfrm>
            <a:off x="192756" y="3982418"/>
            <a:ext cx="1696924" cy="1246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D-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MATCH】Modal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40" name="テキスト ボックス 24"/>
          <p:cNvSpPr txBox="1"/>
          <p:nvPr/>
        </p:nvSpPr>
        <p:spPr>
          <a:xfrm>
            <a:off x="374907" y="4359352"/>
            <a:ext cx="1362604" cy="624728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Gallery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ảnh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41" name="テキスト ボックス 25"/>
          <p:cNvSpPr txBox="1"/>
          <p:nvPr/>
        </p:nvSpPr>
        <p:spPr>
          <a:xfrm>
            <a:off x="1919662" y="4270450"/>
            <a:ext cx="1398307" cy="40126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icon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カメ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ラ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(Camera)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142" name="直線矢印コネクタ 141"/>
          <p:cNvCxnSpPr>
            <a:stCxn id="124" idx="1"/>
            <a:endCxn id="140" idx="3"/>
          </p:cNvCxnSpPr>
          <p:nvPr/>
        </p:nvCxnSpPr>
        <p:spPr>
          <a:xfrm rot="10800000">
            <a:off x="1737512" y="4671716"/>
            <a:ext cx="1212863" cy="3280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3" name="直線矢印コネクタ 12"/>
          <p:cNvCxnSpPr>
            <a:stCxn id="137" idx="2"/>
            <a:endCxn id="136" idx="0"/>
          </p:cNvCxnSpPr>
          <p:nvPr/>
        </p:nvCxnSpPr>
        <p:spPr>
          <a:xfrm rot="5400000">
            <a:off x="4096947" y="2022835"/>
            <a:ext cx="3411432" cy="1862433"/>
          </a:xfrm>
          <a:prstGeom prst="bentConnector3">
            <a:avLst>
              <a:gd name="adj1" fmla="val 25541"/>
            </a:avLst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矢印コネクタ 12"/>
          <p:cNvCxnSpPr>
            <a:stCxn id="138" idx="2"/>
            <a:endCxn id="136" idx="0"/>
          </p:cNvCxnSpPr>
          <p:nvPr/>
        </p:nvCxnSpPr>
        <p:spPr>
          <a:xfrm rot="5400000">
            <a:off x="5029959" y="1098177"/>
            <a:ext cx="3403078" cy="3720103"/>
          </a:xfrm>
          <a:prstGeom prst="bentConnector3">
            <a:avLst>
              <a:gd name="adj1" fmla="val 24810"/>
            </a:avLst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テキスト ボックス 29"/>
          <p:cNvSpPr txBox="1"/>
          <p:nvPr/>
        </p:nvSpPr>
        <p:spPr>
          <a:xfrm>
            <a:off x="8553400" y="1340768"/>
            <a:ext cx="1366805" cy="7115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金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額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Tổng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tiền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của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mục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bình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quân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46" name="テキスト ボックス 30"/>
          <p:cNvSpPr txBox="1"/>
          <p:nvPr/>
        </p:nvSpPr>
        <p:spPr>
          <a:xfrm>
            <a:off x="6681192" y="1340768"/>
            <a:ext cx="1440160" cy="49662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小売</a:t>
            </a:r>
            <a:r>
              <a:rPr lang="ja-JP" altLang="en-US" sz="900" dirty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価格</a:t>
            </a:r>
            <a:r>
              <a:rPr lang="ja-JP" altLang="en-US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の</a:t>
            </a:r>
            <a:r>
              <a:rPr kumimoji="1" lang="ja-JP" altLang="en-US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「金額」リンクを</a:t>
            </a:r>
            <a:r>
              <a:rPr kumimoji="1" lang="ja-JP" altLang="en-US" sz="900" dirty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クリック</a:t>
            </a:r>
            <a:endParaRPr kumimoji="1" lang="en-US" altLang="ja-JP" sz="900" dirty="0">
              <a:solidFill>
                <a:schemeClr val="tx1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47" name="正方形/長方形 146"/>
          <p:cNvSpPr/>
          <p:nvPr/>
        </p:nvSpPr>
        <p:spPr>
          <a:xfrm>
            <a:off x="5673080" y="5281405"/>
            <a:ext cx="268940" cy="238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0" name="直線矢印コネクタ 12"/>
          <p:cNvCxnSpPr>
            <a:stCxn id="147" idx="2"/>
            <a:endCxn id="147" idx="3"/>
          </p:cNvCxnSpPr>
          <p:nvPr/>
        </p:nvCxnSpPr>
        <p:spPr>
          <a:xfrm rot="5400000" flipH="1" flipV="1">
            <a:off x="5814553" y="5392064"/>
            <a:ext cx="120463" cy="134470"/>
          </a:xfrm>
          <a:prstGeom prst="bentConnector4">
            <a:avLst>
              <a:gd name="adj1" fmla="val -194285"/>
              <a:gd name="adj2" fmla="val 27000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1" name="テキスト ボックス 35"/>
          <p:cNvSpPr txBox="1"/>
          <p:nvPr/>
        </p:nvSpPr>
        <p:spPr>
          <a:xfrm>
            <a:off x="6202965" y="5534088"/>
            <a:ext cx="2350435" cy="26412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お気に入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り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(My favorites)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52" name="正方形/長方形 151"/>
          <p:cNvSpPr/>
          <p:nvPr/>
        </p:nvSpPr>
        <p:spPr>
          <a:xfrm>
            <a:off x="5699176" y="4509120"/>
            <a:ext cx="261936" cy="24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3" name="直線矢印コネクタ 12"/>
          <p:cNvCxnSpPr>
            <a:stCxn id="152" idx="3"/>
            <a:endCxn id="152" idx="0"/>
          </p:cNvCxnSpPr>
          <p:nvPr/>
        </p:nvCxnSpPr>
        <p:spPr>
          <a:xfrm flipH="1" flipV="1">
            <a:off x="5830144" y="4509120"/>
            <a:ext cx="130968" cy="120464"/>
          </a:xfrm>
          <a:prstGeom prst="bentConnector4">
            <a:avLst>
              <a:gd name="adj1" fmla="val -174546"/>
              <a:gd name="adj2" fmla="val 289766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4" name="テキスト ボックス 38"/>
          <p:cNvSpPr txBox="1"/>
          <p:nvPr/>
        </p:nvSpPr>
        <p:spPr>
          <a:xfrm>
            <a:off x="6212357" y="4303481"/>
            <a:ext cx="3398185" cy="54942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・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vào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icon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en-US" altLang="ja-JP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×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trong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kumimoji="1" lang="ja-JP" altLang="en-US" sz="90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・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quan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hệ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với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paging</a:t>
            </a:r>
            <a:endParaRPr lang="ja-JP" altLang="ja-JP" sz="900" dirty="0">
              <a:effectLst/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ja-JP" altLang="en-US" sz="90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・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 </a:t>
            </a:r>
            <a:r>
              <a:rPr lang="ja-JP" altLang="ja-JP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「ソー</a:t>
            </a:r>
            <a:r>
              <a:rPr lang="ja-JP" altLang="ja-JP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ト</a:t>
            </a:r>
            <a:r>
              <a:rPr lang="ja-JP" altLang="ja-JP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(Sort)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trong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các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mục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của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endParaRPr lang="ja-JP" altLang="ja-JP" sz="900" dirty="0">
              <a:effectLst/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55" name="テキスト ボックス 39"/>
          <p:cNvSpPr txBox="1"/>
          <p:nvPr/>
        </p:nvSpPr>
        <p:spPr>
          <a:xfrm>
            <a:off x="6659205" y="2248842"/>
            <a:ext cx="1532404" cy="4843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2-5: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sản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phẩm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đã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156" name="直線矢印コネクタ 12"/>
          <p:cNvCxnSpPr>
            <a:stCxn id="155" idx="2"/>
            <a:endCxn id="136" idx="0"/>
          </p:cNvCxnSpPr>
          <p:nvPr/>
        </p:nvCxnSpPr>
        <p:spPr>
          <a:xfrm rot="5400000">
            <a:off x="5185136" y="2419495"/>
            <a:ext cx="1926583" cy="2553961"/>
          </a:xfrm>
          <a:prstGeom prst="bentConnector3">
            <a:avLst>
              <a:gd name="adj1" fmla="val 50000"/>
            </a:avLst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テキスト ボックス 41"/>
          <p:cNvSpPr txBox="1"/>
          <p:nvPr/>
        </p:nvSpPr>
        <p:spPr>
          <a:xfrm>
            <a:off x="7481091" y="2796367"/>
            <a:ext cx="1122116" cy="67879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小売相場検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索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58" name="テキスト ボックス 42"/>
          <p:cNvSpPr txBox="1"/>
          <p:nvPr/>
        </p:nvSpPr>
        <p:spPr>
          <a:xfrm>
            <a:off x="5025008" y="2292310"/>
            <a:ext cx="1480635" cy="460885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【C-MATCH】</a:t>
            </a: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1-2: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Đăng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ký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sản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phẩm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59" name="テキスト ボックス 43"/>
          <p:cNvSpPr txBox="1"/>
          <p:nvPr/>
        </p:nvSpPr>
        <p:spPr>
          <a:xfrm>
            <a:off x="5862773" y="2839054"/>
            <a:ext cx="1090344" cy="6619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相場をチェックす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る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(Check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160" name="直線矢印コネクタ 12"/>
          <p:cNvCxnSpPr>
            <a:stCxn id="158" idx="2"/>
            <a:endCxn id="136" idx="0"/>
          </p:cNvCxnSpPr>
          <p:nvPr/>
        </p:nvCxnSpPr>
        <p:spPr>
          <a:xfrm rot="5400000">
            <a:off x="4365100" y="3259541"/>
            <a:ext cx="1906572" cy="893880"/>
          </a:xfrm>
          <a:prstGeom prst="bentConnector3">
            <a:avLst>
              <a:gd name="adj1" fmla="val 50000"/>
            </a:avLst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テキスト ボックス 45"/>
          <p:cNvSpPr txBox="1"/>
          <p:nvPr/>
        </p:nvSpPr>
        <p:spPr>
          <a:xfrm>
            <a:off x="128462" y="496898"/>
            <a:ext cx="2095501" cy="6989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lang="ja-JP" altLang="ja-JP" sz="900" dirty="0">
              <a:effectLst/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2-2-1: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(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chỉ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định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điều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kiện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lang="ja-JP" altLang="ja-JP" sz="900" dirty="0">
              <a:effectLst/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※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My favorites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62" name="テキスト ボックス 46"/>
          <p:cNvSpPr txBox="1"/>
          <p:nvPr/>
        </p:nvSpPr>
        <p:spPr>
          <a:xfrm>
            <a:off x="128463" y="2551230"/>
            <a:ext cx="2095500" cy="5690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lang="ja-JP" altLang="ja-JP" sz="900" dirty="0">
              <a:effectLst/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2-2-1: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chỉ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định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điều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kiện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lang="ja-JP" altLang="ja-JP" sz="900" dirty="0">
              <a:effectLst/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※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lịch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sử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163" name="直線矢印コネクタ 12"/>
          <p:cNvCxnSpPr>
            <a:stCxn id="161" idx="2"/>
            <a:endCxn id="130" idx="0"/>
          </p:cNvCxnSpPr>
          <p:nvPr/>
        </p:nvCxnSpPr>
        <p:spPr>
          <a:xfrm rot="16200000" flipH="1">
            <a:off x="930245" y="1441807"/>
            <a:ext cx="3463928" cy="2971992"/>
          </a:xfrm>
          <a:prstGeom prst="bentConnector3">
            <a:avLst>
              <a:gd name="adj1" fmla="val 3251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2"/>
          <p:cNvCxnSpPr>
            <a:stCxn id="162" idx="2"/>
            <a:endCxn id="130" idx="0"/>
          </p:cNvCxnSpPr>
          <p:nvPr/>
        </p:nvCxnSpPr>
        <p:spPr>
          <a:xfrm rot="16200000" flipH="1">
            <a:off x="1892452" y="2404013"/>
            <a:ext cx="1539515" cy="2971992"/>
          </a:xfrm>
          <a:prstGeom prst="bentConnector3">
            <a:avLst>
              <a:gd name="adj1" fmla="val 3143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5" name="テキスト ボックス 49"/>
          <p:cNvSpPr txBox="1"/>
          <p:nvPr/>
        </p:nvSpPr>
        <p:spPr>
          <a:xfrm>
            <a:off x="1624492" y="3329674"/>
            <a:ext cx="1833562" cy="47624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「選択」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Lựa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chọn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66" name="テキスト ボックス 50"/>
          <p:cNvSpPr txBox="1"/>
          <p:nvPr/>
        </p:nvSpPr>
        <p:spPr>
          <a:xfrm>
            <a:off x="1175222" y="2070826"/>
            <a:ext cx="1833562" cy="35006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選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択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Lựa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chọn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215" name="テキスト ボックス 33"/>
          <p:cNvSpPr txBox="1"/>
          <p:nvPr/>
        </p:nvSpPr>
        <p:spPr>
          <a:xfrm>
            <a:off x="2878697" y="3857445"/>
            <a:ext cx="1417461" cy="33093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LS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214" name="フローチャート: 磁気ディスク 213"/>
          <p:cNvSpPr/>
          <p:nvPr/>
        </p:nvSpPr>
        <p:spPr>
          <a:xfrm>
            <a:off x="3866174" y="3903847"/>
            <a:ext cx="250732" cy="23812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8" name="テキスト ボックス 33"/>
          <p:cNvSpPr txBox="1"/>
          <p:nvPr/>
        </p:nvSpPr>
        <p:spPr>
          <a:xfrm>
            <a:off x="6322654" y="5762365"/>
            <a:ext cx="1654682" cy="33093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My favorites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219" name="フローチャート: 磁気ディスク 218"/>
          <p:cNvSpPr/>
          <p:nvPr/>
        </p:nvSpPr>
        <p:spPr>
          <a:xfrm>
            <a:off x="7574522" y="5808767"/>
            <a:ext cx="250732" cy="23812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テキスト ボックス 39"/>
          <p:cNvSpPr txBox="1"/>
          <p:nvPr/>
        </p:nvSpPr>
        <p:spPr>
          <a:xfrm>
            <a:off x="8327360" y="3380361"/>
            <a:ext cx="1450176" cy="6247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2-3-2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: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AA</a:t>
            </a:r>
            <a:endParaRPr kumimoji="1" lang="en-US" altLang="ja-JP" sz="900" dirty="0" smtClean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chi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64" name="テキスト ボックス 41"/>
          <p:cNvSpPr txBox="1"/>
          <p:nvPr/>
        </p:nvSpPr>
        <p:spPr>
          <a:xfrm>
            <a:off x="7458881" y="3757752"/>
            <a:ext cx="929164" cy="53517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詳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細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(Chi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66" name="直線矢印コネクタ 12"/>
          <p:cNvCxnSpPr>
            <a:stCxn id="63" idx="1"/>
            <a:endCxn id="136" idx="0"/>
          </p:cNvCxnSpPr>
          <p:nvPr/>
        </p:nvCxnSpPr>
        <p:spPr>
          <a:xfrm rot="10800000" flipV="1">
            <a:off x="4871446" y="3692713"/>
            <a:ext cx="3455914" cy="967054"/>
          </a:xfrm>
          <a:prstGeom prst="bentConnector2">
            <a:avLst/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テキスト ボックス 33"/>
          <p:cNvSpPr txBox="1"/>
          <p:nvPr/>
        </p:nvSpPr>
        <p:spPr>
          <a:xfrm>
            <a:off x="4627942" y="3867927"/>
            <a:ext cx="1417461" cy="33093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LS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endParaRPr lang="ja-JP" altLang="en-US" sz="900" smtClean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217" name="フローチャート: 磁気ディスク 216"/>
          <p:cNvSpPr/>
          <p:nvPr/>
        </p:nvSpPr>
        <p:spPr>
          <a:xfrm>
            <a:off x="5615419" y="3914329"/>
            <a:ext cx="250732" cy="23812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正方形/長方形 61"/>
          <p:cNvSpPr/>
          <p:nvPr/>
        </p:nvSpPr>
        <p:spPr>
          <a:xfrm>
            <a:off x="5760323" y="532302"/>
            <a:ext cx="1928981" cy="1262402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Do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chúng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tôi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chưa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endParaRPr lang="en-US" altLang="ja-JP" sz="1400" dirty="0" smtClean="0">
              <a:solidFill>
                <a:schemeClr val="bg1"/>
              </a:solidFill>
              <a:latin typeface="Times New Roman" pitchFamily="18" charset="0"/>
              <a:ea typeface="HGPｺﾞｼｯｸM" panose="020B0600000000000000" pitchFamily="50" charset="-128"/>
              <a:cs typeface="Times New Roman" pitchFamily="18" charset="0"/>
            </a:endParaRPr>
          </a:p>
          <a:p>
            <a:pPr algn="ctr"/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xác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định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spec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tìm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kiếm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endParaRPr lang="en-US" altLang="ja-JP" sz="1400" dirty="0" smtClean="0">
              <a:solidFill>
                <a:schemeClr val="bg1"/>
              </a:solidFill>
              <a:latin typeface="Times New Roman" pitchFamily="18" charset="0"/>
              <a:ea typeface="HGPｺﾞｼｯｸM" panose="020B0600000000000000" pitchFamily="50" charset="-128"/>
              <a:cs typeface="Times New Roman" pitchFamily="18" charset="0"/>
            </a:endParaRPr>
          </a:p>
          <a:p>
            <a:pPr algn="ctr"/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sản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phẩm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mua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bán</a:t>
            </a:r>
            <a:endParaRPr lang="en-US" altLang="ja-JP" sz="1400" dirty="0" smtClean="0">
              <a:solidFill>
                <a:schemeClr val="bg1"/>
              </a:solidFill>
              <a:latin typeface="Times New Roman" pitchFamily="18" charset="0"/>
              <a:ea typeface="HGPｺﾞｼｯｸM" panose="020B0600000000000000" pitchFamily="50" charset="-128"/>
              <a:cs typeface="Times New Roman" pitchFamily="18" charset="0"/>
            </a:endParaRPr>
          </a:p>
          <a:p>
            <a:pPr algn="ctr"/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nên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phần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này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tôi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endParaRPr lang="en-US" altLang="ja-JP" sz="1400" dirty="0" smtClean="0">
              <a:solidFill>
                <a:schemeClr val="bg1"/>
              </a:solidFill>
              <a:latin typeface="Times New Roman" pitchFamily="18" charset="0"/>
              <a:ea typeface="HGPｺﾞｼｯｸM" panose="020B0600000000000000" pitchFamily="50" charset="-128"/>
              <a:cs typeface="Times New Roman" pitchFamily="18" charset="0"/>
            </a:endParaRPr>
          </a:p>
          <a:p>
            <a:pPr algn="ctr"/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sẽ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tạo</a:t>
            </a:r>
            <a:r>
              <a:rPr lang="en-US" altLang="ja-JP" sz="1400" dirty="0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 </a:t>
            </a:r>
            <a:r>
              <a:rPr lang="en-US" altLang="ja-JP" sz="1400" dirty="0" err="1" smtClean="0">
                <a:solidFill>
                  <a:schemeClr val="bg1"/>
                </a:solidFill>
                <a:latin typeface="Times New Roman" pitchFamily="18" charset="0"/>
                <a:ea typeface="HGPｺﾞｼｯｸM" panose="020B0600000000000000" pitchFamily="50" charset="-128"/>
                <a:cs typeface="Times New Roman" pitchFamily="18" charset="0"/>
              </a:rPr>
              <a:t>sau</a:t>
            </a:r>
            <a:endParaRPr lang="en-US" altLang="ja-JP" sz="1400" dirty="0" smtClean="0">
              <a:solidFill>
                <a:schemeClr val="bg1"/>
              </a:solidFill>
              <a:latin typeface="Times New Roman" pitchFamily="18" charset="0"/>
              <a:ea typeface="HGPｺﾞｼｯｸM" panose="020B0600000000000000" pitchFamily="50" charset="-128"/>
              <a:cs typeface="Times New Roman" pitchFamily="18" charset="0"/>
            </a:endParaRPr>
          </a:p>
        </p:txBody>
      </p:sp>
      <p:sp>
        <p:nvSpPr>
          <p:cNvPr id="77" name="テキスト ボックス 24"/>
          <p:cNvSpPr txBox="1"/>
          <p:nvPr/>
        </p:nvSpPr>
        <p:spPr>
          <a:xfrm>
            <a:off x="3152800" y="5024833"/>
            <a:ext cx="1142173" cy="348383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78" name="テキスト ボックス 24"/>
          <p:cNvSpPr txBox="1"/>
          <p:nvPr/>
        </p:nvSpPr>
        <p:spPr>
          <a:xfrm>
            <a:off x="4622691" y="5012309"/>
            <a:ext cx="1142173" cy="348383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Bảng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matrix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79" name="直線矢印コネクタ 78"/>
          <p:cNvCxnSpPr>
            <a:stCxn id="78" idx="1"/>
            <a:endCxn id="77" idx="3"/>
          </p:cNvCxnSpPr>
          <p:nvPr/>
        </p:nvCxnSpPr>
        <p:spPr>
          <a:xfrm flipH="1">
            <a:off x="4294973" y="5186501"/>
            <a:ext cx="327718" cy="1252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5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6736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☣NEW HOYU theme">
  <a:themeElements>
    <a:clrScheme name="NEW HOYU">
      <a:dk1>
        <a:srgbClr val="000000"/>
      </a:dk1>
      <a:lt1>
        <a:srgbClr val="FFFFFF"/>
      </a:lt1>
      <a:dk2>
        <a:srgbClr val="3F3F3F"/>
      </a:dk2>
      <a:lt2>
        <a:srgbClr val="D8D8D8"/>
      </a:lt2>
      <a:accent1>
        <a:srgbClr val="00BAE6"/>
      </a:accent1>
      <a:accent2>
        <a:srgbClr val="FABB0A"/>
      </a:accent2>
      <a:accent3>
        <a:srgbClr val="667ECC"/>
      </a:accent3>
      <a:accent4>
        <a:srgbClr val="973F4E"/>
      </a:accent4>
      <a:accent5>
        <a:srgbClr val="C4D331"/>
      </a:accent5>
      <a:accent6>
        <a:srgbClr val="00BAE6"/>
      </a:accent6>
      <a:hlink>
        <a:srgbClr val="C22424"/>
      </a:hlink>
      <a:folHlink>
        <a:srgbClr val="87B9C3"/>
      </a:folHlink>
    </a:clrScheme>
    <a:fontScheme name="HOYUデザインレイアウトテンプレート">
      <a:majorFont>
        <a:latin typeface="A-OTF じゅん Pro 34"/>
        <a:ea typeface="A-OTF じゅん Pro 34"/>
        <a:cs typeface=""/>
      </a:majorFont>
      <a:minorFont>
        <a:latin typeface="A-OTF じゅん Pro 201"/>
        <a:ea typeface="A-OTF じゅん Pro 201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0">
              <a:schemeClr val="bg2">
                <a:lumMod val="90000"/>
              </a:schemeClr>
            </a:gs>
            <a:gs pos="50000">
              <a:srgbClr val="00B0F0"/>
            </a:gs>
            <a:gs pos="100000">
              <a:schemeClr val="bg2">
                <a:lumMod val="90000"/>
              </a:schemeClr>
            </a:gs>
          </a:gsLst>
          <a:lin ang="10800000" scaled="1"/>
          <a:tileRect/>
        </a:gradFill>
        <a:ln w="9525">
          <a:noFill/>
          <a:miter lim="800000"/>
          <a:headEnd/>
          <a:tailEnd/>
        </a:ln>
        <a:effectLst/>
      </a:spPr>
      <a:bodyPr wrap="none" anchor="ctr"/>
      <a:lstStyle>
        <a:defPPr>
          <a:defRPr/>
        </a:defPPr>
      </a:lstStyle>
    </a:spDef>
    <a:lnDef>
      <a:spPr>
        <a:ln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1200" dirty="0" smtClean="0">
            <a:latin typeface="MS UI Gothic" pitchFamily="50" charset="-128"/>
            <a:ea typeface="MS UI Gothic" pitchFamily="50" charset="-128"/>
          </a:defRPr>
        </a:defPPr>
      </a:lstStyle>
    </a:txDef>
  </a:objectDefaults>
  <a:extraClrSchemeLst>
    <a:extraClrScheme>
      <a:clrScheme name="HOYUデザインレイアウトテンプレー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☣NEW HOYU theme</Template>
  <TotalTime>27656</TotalTime>
  <Words>1181</Words>
  <Application>Microsoft Office PowerPoint</Application>
  <PresentationFormat>A4 Paper (210x297 mm)</PresentationFormat>
  <Paragraphs>226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☣NEW HOYU theme</vt:lpstr>
      <vt:lpstr>TÀI LIỆU ĐỊNH NGHĨA YÊU CẦU TÍNH NĂNG CỦA D-MATCH  （2-2-2: TÌM KIẾM GIÁ BÁN LẺ (DỮ LIỆU CHI TIẾT)）</vt:lpstr>
      <vt:lpstr>GIỚI THIỆU TỔNG QUÁT (1/5)　</vt:lpstr>
      <vt:lpstr>GIỚI THIỆU TỔNG QUÁT (2/5)　</vt:lpstr>
      <vt:lpstr>GIỚI THIỆU TỔNG QUÁT (3/5)</vt:lpstr>
      <vt:lpstr>GIỚI THIỆU TỔNG QUÁT (4/5)</vt:lpstr>
      <vt:lpstr>GIỚI THIỆU TỔNG QUÁT (5/5)</vt:lpstr>
      <vt:lpstr>Transition diagram (trong màn hình)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HOYU70</dc:creator>
  <cp:lastModifiedBy>nguyen.thai.binh</cp:lastModifiedBy>
  <cp:revision>2485</cp:revision>
  <cp:lastPrinted>2015-09-16T04:25:41Z</cp:lastPrinted>
  <dcterms:created xsi:type="dcterms:W3CDTF">2010-04-07T02:08:55Z</dcterms:created>
  <dcterms:modified xsi:type="dcterms:W3CDTF">2016-05-25T08:39:19Z</dcterms:modified>
</cp:coreProperties>
</file>